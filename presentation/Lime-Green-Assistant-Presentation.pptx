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0bbc647a2dd4276" /><Relationship Type="http://schemas.openxmlformats.org/officeDocument/2006/relationships/extended-properties" Target="/docProps/app.xml" Id="Rae6db8f894764f6f" /><Relationship Type="http://schemas.openxmlformats.org/officeDocument/2006/relationships/officeDocument" Target="/ppt/presentation.xml" Id="Rb82d57cb16b94960" /></Relationships>
</file>

<file path=ppt/presentation.xml><?xml version="1.0" encoding="utf-8"?>
<p:presentation xmlns:p="http://schemas.openxmlformats.org/presentationml/2006/main">
  <p:sldMasterIdLst>
    <p:sldMasterId xmlns:r="http://schemas.openxmlformats.org/officeDocument/2006/relationships" id="2147483648" r:id="Raf573ea244a44637"/>
  </p:sldMasterIdLst>
  <p:notesMasterIdLst>
    <p:notesMasterId xmlns:r="http://schemas.openxmlformats.org/officeDocument/2006/relationships" r:id="R1e6c375b05934077"/>
  </p:notesMasterIdLst>
  <p:sldIdLst>
    <p:sldId xmlns:r="http://schemas.openxmlformats.org/officeDocument/2006/relationships" id="256" r:id="Recd71f2aebd44f6b"/>
    <p:sldId xmlns:r="http://schemas.openxmlformats.org/officeDocument/2006/relationships" id="257" r:id="R9dfb6404e8644b24"/>
    <p:sldId xmlns:r="http://schemas.openxmlformats.org/officeDocument/2006/relationships" id="258" r:id="R67265a57794f4d5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d9af39d7c3664dc3" /><Relationship Type="http://schemas.openxmlformats.org/officeDocument/2006/relationships/slideMaster" Target="/ppt/slideMasters/slideMaster1.xml" Id="Raf573ea244a44637" /><Relationship Type="http://schemas.openxmlformats.org/officeDocument/2006/relationships/notesMaster" Target="/ppt/notesMasters/notesMaster1.xml" Id="R1e6c375b05934077" /><Relationship Type="http://schemas.openxmlformats.org/officeDocument/2006/relationships/presProps" Target="/ppt/presProps.xml" Id="Rc492f108ec9c4c1f" /><Relationship Type="http://schemas.openxmlformats.org/officeDocument/2006/relationships/viewProps" Target="/ppt/viewProps.xml" Id="Ra292c37d8508482c" /><Relationship Type="http://schemas.openxmlformats.org/officeDocument/2006/relationships/tableStyles" Target="/ppt/tableStyles.xml" Id="R62c176d512084a83" /><Relationship Type="http://schemas.openxmlformats.org/officeDocument/2006/relationships/slide" Target="/ppt/slides/slide1.xml" Id="Recd71f2aebd44f6b" /><Relationship Type="http://schemas.openxmlformats.org/officeDocument/2006/relationships/slide" Target="/ppt/slides/slide2.xml" Id="R9dfb6404e8644b24" /><Relationship Type="http://schemas.openxmlformats.org/officeDocument/2006/relationships/slide" Target="/ppt/slides/slide3.xml" Id="R67265a57794f4d5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0e74d1d52ba491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4aa3e4ab4324529" /><Relationship Type="http://schemas.openxmlformats.org/officeDocument/2006/relationships/notesMaster" Target="/ppt/notesMasters/notesMaster1.xml" Id="R3ec848cd13f74224" /></Relationships>
</file>

<file path=ppt/notesSlides/_rels/notesSlide2.xml.rels>&#65279;<?xml version="1.0" encoding="utf-8"?><Relationships xmlns="http://schemas.openxmlformats.org/package/2006/relationships"><Relationship Type="http://schemas.openxmlformats.org/officeDocument/2006/relationships/slide" Target="/ppt/slides/slide2.xml" Id="R8398503e97964f61" /><Relationship Type="http://schemas.openxmlformats.org/officeDocument/2006/relationships/notesMaster" Target="/ppt/notesMasters/notesMaster1.xml" Id="R5268e59d9c454cc3" /></Relationships>
</file>

<file path=ppt/notesSlides/_rels/notesSlide3.xml.rels>&#65279;<?xml version="1.0" encoding="utf-8"?><Relationships xmlns="http://schemas.openxmlformats.org/package/2006/relationships"><Relationship Type="http://schemas.openxmlformats.org/officeDocument/2006/relationships/slide" Target="/ppt/slides/slide3.xml" Id="Raf0d762670864516" /><Relationship Type="http://schemas.openxmlformats.org/officeDocument/2006/relationships/notesMaster" Target="/ppt/notesMasters/notesMaster1.xml" Id="Re2b6ca191f2a4fb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0:00–1:50. Spoken script:</a:t>
            </a:r>
          </a:p>
          <a:p xmlns:a="http://schemas.openxmlformats.org/drawingml/2006/main">
            <a:r>
              <a:t/>
            </a:r>
          </a:p>
          <a:p xmlns:a="http://schemas.openxmlformats.org/drawingml/2006/main">
            <a:r>
              <a:t>I built a local technical knowledge assistant for questions about Lime Green products. The brief asked for relevant retrieval, a local model, sources, and a clear response when the information is insufficient. I made the source behind each claim visible so a reviewer can inspect the evidence directly.</a:t>
            </a:r>
            <a:endParaRPr/>
          </a:p>
          <a:p xmlns:a="http://schemas.openxmlformats.org/drawingml/2006/main">
            <a:r>
              <a:t/>
            </a:r>
          </a:p>
          <a:p xmlns:a="http://schemas.openxmlformats.org/drawingml/2006/main">
            <a:r>
              <a:t>The example here is a straightforward product question: does Duro contain cement? The answer says that it is completely free of cement. In the application, the numbered source includes the full sentence from the Duro page, its capture date and a link to the quoted text. The sentence on this slide is actual captured model output.</a:t>
            </a:r>
            <a:endParaRPr/>
          </a:p>
          <a:p xmlns:a="http://schemas.openxmlformats.org/drawingml/2006/main">
            <a:r>
              <a:t/>
            </a:r>
            <a:endParaRPr/>
          </a:p>
          <a:p xmlns:a="http://schemas.openxmlformats.org/drawingml/2006/main">
            <a:r>
              <a:t>For the deliberately insufficient question, I asked about the price of Natural Lime Mortar and free delivery. The indexed pages do not supply that information, so the application returns fixed refusal wording and the closest pages.</a:t>
            </a:r>
            <a:endParaRPr/>
          </a:p>
          <a:p xmlns:a="http://schemas.openxmlformats.org/drawingml/2006/main">
            <a:r>
              <a:t/>
            </a:r>
            <a:endParaRPr/>
          </a:p>
          <a:p xmlns:a="http://schemas.openxmlformats.org/drawingml/2006/main">
            <a:r>
              <a:t>I chose 68 HTML pages by a sitemap section rule, covering products and support material. They became 315 passages in one SQLite file. That is small enough to inspect without running a separate database service. A command line and a small web page share the same answer function.</a:t>
            </a:r>
            <a:endParaRPr/>
          </a:p>
          <a:p xmlns:a="http://schemas.openxmlformats.org/drawingml/2006/main">
            <a:r>
              <a:t/>
            </a:r>
            <a:endParaRPr/>
          </a:p>
          <a:p xmlns:a="http://schemas.openxmlformats.org/drawingml/2006/main">
            <a:r>
              <a:t>The models run locally through llama.cpp. The setup uses an eight-gigabyte laptop GPU, with the large model's expert layers in system RAM. My measured setup needs roughly 25 gigabytes of RAM for the three model servers, so the README recommends at least 32 gigabytes.</a:t>
            </a:r>
            <a:endParaRPr/>
          </a:p>
          <a:p xmlns:a="http://schemas.openxmlformats.org/drawingml/2006/main">
            <a:r>
              <a:t/>
            </a:r>
            <a:endParaRPr/>
          </a:p>
          <a:p xmlns:a="http://schemas.openxmlformats.org/drawingml/2006/main">
            <a:r>
              <a:t>Source notes, not spoken: README Example answers, Design decisions and Constraints. Duro source: https://www.lime-green.co.uk/products/lime-render/duro . Captured answer and page date: 12 September 2026. The app shows the complete source quotation.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1:50–4:10. Spoken script:</a:t>
            </a:r>
          </a:p>
          <a:p xmlns:a="http://schemas.openxmlformats.org/drawingml/2006/main">
            <a:r>
              <a:t/>
            </a:r>
          </a:p>
          <a:p xmlns:a="http://schemas.openxmlformats.org/drawingml/2006/main">
            <a:r>
              <a:t>The offline step fetches the selected pages politely, removes navigation, and keeps sections and FAQ question-and-answer pairs together. It stores the text and embeddings in SQLite.</a:t>
            </a:r>
            <a:endParaRPr/>
          </a:p>
          <a:p xmlns:a="http://schemas.openxmlformats.org/drawingml/2006/main">
            <a:r>
              <a:t/>
            </a:r>
          </a:p>
          <a:p xmlns:a="http://schemas.openxmlformats.org/drawingml/2006/main">
            <a:r>
              <a:t>For a question, keyword search finds exact terms such as product names. Vector search uses Qwen3 embeddings to find related meanings. Reciprocal-rank fusion combines the two rankings without needing their scores to be on the same scale. BGE then reads the question with each of the best twenty candidate passages, reranks them, and passes eight to the generator.</a:t>
            </a:r>
            <a:endParaRPr/>
          </a:p>
          <a:p xmlns:a="http://schemas.openxmlformats.org/drawingml/2006/main">
            <a:r>
              <a:t/>
            </a:r>
          </a:p>
          <a:p xmlns:a="http://schemas.openxmlformats.org/drawingml/2006/main">
            <a:r>
              <a:t>The generator is Qwen3.6-35B-A3B. The prompt treats retrieved passages as reference data and tells the model to ignore instructions inside them. A JSON schema requires evidence quotations before the claim text, so each claim has an explicit connection to the words it cites.</a:t>
            </a:r>
            <a:endParaRPr/>
          </a:p>
          <a:p xmlns:a="http://schemas.openxmlformats.org/drawingml/2006/main">
            <a:r>
              <a:t/>
            </a:r>
          </a:p>
          <a:p xmlns:a="http://schemas.openxmlformats.org/drawingml/2006/main">
            <a:r>
              <a:t>Ordinary Python then checks that each source identifier exists, each quotation occurs in that passage, and numbers and named regulations in the claim occur in its quotations. A failed claim is removed. If none remain, the application gives its fixed refusal. If a claim is removed, or the model reports incomplete coverage, the reader sees a caution.</a:t>
            </a:r>
            <a:endParaRPr/>
          </a:p>
          <a:p xmlns:a="http://schemas.openxmlformats.org/drawingml/2006/main">
            <a:r>
              <a:t/>
            </a:r>
          </a:p>
          <a:p xmlns:a="http://schemas.openxmlformats.org/drawingml/2006/main">
            <a:r>
              <a:t>There is also a short model request before retrieval to recognise a described exposure. It routes those questions to fixed referral text rather than generating first-aid instructions.</a:t>
            </a:r>
            <a:endParaRPr/>
          </a:p>
          <a:p xmlns:a="http://schemas.openxmlformats.org/drawingml/2006/main">
            <a:r>
              <a:t/>
            </a:r>
            <a:endParaRPr/>
          </a:p>
          <a:p xmlns:a="http://schemas.openxmlformats.org/drawingml/2006/main">
            <a:r>
              <a:t>The important limit is that matching words does not prove meaning. A genuine quotation can still be interpreted incorrectly. The completeness and exposure decisions also depend on the model. That is why I evaluated the answers themselves as well as testing the code.</a:t>
            </a:r>
            <a:endParaRPr/>
          </a:p>
          <a:p xmlns:a="http://schemas.openxmlformats.org/drawingml/2006/main">
            <a:r>
              <a:t/>
            </a:r>
            <a:endParaRPr/>
          </a:p>
          <a:p xmlns:a="http://schemas.openxmlformats.org/drawingml/2006/main">
            <a:r>
              <a:t>This takes a proportionate lesson from my thesis: constrained outputs, evidence for each claim and explicit verification. The model comparison also reuses the discipline from the BCU hackathon of keeping retrieval fixed while comparing generators.</a:t>
            </a:r>
            <a:endParaRPr/>
          </a:p>
          <a:p xmlns:a="http://schemas.openxmlformats.org/drawingml/2006/main">
            <a:r>
              <a:t/>
            </a:r>
            <a:endParaRPr/>
          </a:p>
          <a:p xmlns:a="http://schemas.openxmlformats.org/drawingml/2006/main">
            <a:r>
              <a:t>Source notes, not spoken: src/limespec/ingest.py, retrieve.py, answer.py, verify.py and config.py. Thesis and hackathon transfer: private PLAN sections 4.1–4.7 and HANDOVER section 4.</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4:10–6:35, leaving 25 seconds before the limit. Spoken script:</a:t>
            </a:r>
          </a:p>
          <a:p xmlns:a="http://schemas.openxmlformats.org/drawingml/2006/main">
            <a:r>
              <a:t/>
            </a:r>
          </a:p>
          <a:p xmlns:a="http://schemas.openxmlformats.org/drawingml/2006/main">
            <a:r>
              <a:t>The first evaluation used ninety questions: eighteen cases, each asked five ways, including rushed or misspelt wording. The expected answers were locked before the engine was built. Three local generators received the same retrieved passages. Two blind language-model judges graded the answers, and I settled disagreements and applied the forbidden-answer rules.</a:t>
            </a:r>
            <a:endParaRPr/>
          </a:p>
          <a:p xmlns:a="http://schemas.openxmlformats.org/drawingml/2006/main">
            <a:r>
              <a:t/>
            </a:r>
          </a:p>
          <a:p xmlns:a="http://schemas.openxmlformats.org/drawingml/2006/main">
            <a:r>
              <a:t>Qwen produced seventy-seven sound answers, eight partial and five wrong. Gemma was close. The smaller Nemotron model was faster, but it often refused questions the pages could answer. I chose Qwen for answer quality.</a:t>
            </a:r>
            <a:endParaRPr/>
          </a:p>
          <a:p xmlns:a="http://schemas.openxmlformats.org/drawingml/2006/main">
            <a:r>
              <a:t/>
            </a:r>
          </a:p>
          <a:p xmlns:a="http://schemas.openxmlformats.org/drawingml/2006/main">
            <a:r>
              <a:t>I then tested sixty new questions through the live web page. Blind judges compared pairs of model answers. Bradley-Terry converts those comparisons into relative strengths. After a third judge settled disagreements, Qwen and Gemma had identical strengths. I kept the already-selected Qwen after seeing that tie. Its median live answer took 12.7 seconds on this laptop. Those timings include the hardware placement choices, so they are not a pure comparison of model speed.</a:t>
            </a:r>
            <a:endParaRPr/>
          </a:p>
          <a:p xmlns:a="http://schemas.openxmlformats.org/drawingml/2006/main">
            <a:r>
              <a:t/>
            </a:r>
          </a:p>
          <a:p xmlns:a="http://schemas.openxmlformats.org/drawingml/2006/main">
            <a:r>
              <a:t>The direct product example worked. In both evaluations, every model refused the price questions and routed the accident cases to the fixed referral. Those are observed results, not guarantees for unseen questions.</a:t>
            </a:r>
            <a:endParaRPr/>
          </a:p>
          <a:p xmlns:a="http://schemas.openxmlformats.org/drawingml/2006/main">
            <a:r>
              <a:t/>
            </a:r>
          </a:p>
          <a:p xmlns:a="http://schemas.openxmlformats.org/drawingml/2006/main">
            <a:r>
              <a:t>The multi-source example missed Tradirend because retrieval did not pass its description to the model. There are also interpretation failures: every tested model over-reassured on Building Regulations questions. That is a limit of quotation checks, not just search quality. Some held-out facts were also outside the selected pages.</a:t>
            </a:r>
            <a:endParaRPr/>
          </a:p>
          <a:p xmlns:a="http://schemas.openxmlformats.org/drawingml/2006/main">
            <a:r>
              <a:t/>
            </a:r>
          </a:p>
          <a:p xmlns:a="http://schemas.openxmlformats.org/drawingml/2006/main">
            <a:r>
              <a:t>With more time, I would ask Lime Green's technical team to grade real customer enquiries, use those to test retrieval changes, and add the PDF data sheets. Separate searches for each part of a question are another candidate, but the trial improved coverage at about seventy percent more median latency.</a:t>
            </a:r>
            <a:endParaRPr/>
          </a:p>
          <a:p xmlns:a="http://schemas.openxmlformats.org/drawingml/2006/main">
            <a:r>
              <a:t/>
            </a:r>
            <a:endParaRPr/>
          </a:p>
          <a:p xmlns:a="http://schemas.openxmlformats.org/drawingml/2006/main">
            <a:r>
              <a:t>My conclusion is a runnable local prototype with inspectable sources and measured limitations. The next validation step is domain expertise. The judges here were language models, so their grades are useful evidence rather than proof of correctness.</a:t>
            </a:r>
            <a:endParaRPr/>
          </a:p>
          <a:p xmlns:a="http://schemas.openxmlformats.org/drawingml/2006/main">
            <a:r>
              <a:t/>
            </a:r>
            <a:endParaRPr/>
          </a:p>
          <a:p xmlns:a="http://schemas.openxmlformats.org/drawingml/2006/main">
            <a:r>
              <a:t>Source notes, not spoken: README Results; evaluation/results/final-answers.json and heldout-v2-pairwise.json; notebook/engine_evaluation.ipynb. Held-out final strengths: Qwen +0.1790 and Gemma +0.1790, Nemotron Q8_0 −0.3580. Frozen Nemotron uses Q4_K_M. The held-out study compares Q8_0.</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72b17431a834c3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2d57eb71787423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c33ecd511264d5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789f65a109049c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0edf75a3e65405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bd61ad26e214b1d"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7adca5209aef4a7c"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dc19cf7497b544b7"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3e1a2cd480674569"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4fcf260820d94159"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3407406d91464502"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E88545D-3D24-8481-416F-C5E3C2566D34}"/>
              </a:ext>
            </a:extLst>
          </p:cNvPr>
          <p:cNvSpPr>
            <a:spLocks xmlns:a="http://schemas.openxmlformats.org/drawingml/2006/main" noGrp="1"/>
          </p:cNvSpPr>
          <p:nvPr>
            <p:ph type="ctrTitle" idx="0"/>
          </p:nvPr>
        </p:nvSpPr>
        <p:spPr>
          <a:xfrm xmlns:a="http://schemas.openxmlformats.org/drawingml/2006/main">
            <a:off x="1524000" y="1122363"/>
            <a:ext cx="9144000" cy="2387600"/>
          </a:xfrm>
        </p:spPr>
        <p:txBody>
          <a:bodyPr xmlns:a="http://schemas.openxmlformats.org/drawingml/2006/main" anchor="b"/>
          <a:lstStyle xmlns:a="http://schemas.openxmlformats.org/drawingml/2006/main">
            <a:lvl1pPr algn="ctr">
              <a:buNone/>
              <a:defRPr sz="6000"/>
            </a:lvl1pPr>
          </a:lstStyle>
          <a:p xmlns:a="http://schemas.openxmlformats.org/drawingml/2006/main">
            <a:r>
              <a:t>Click to edit Master title style</a:t>
            </a:r>
            <a:endParaRPr/>
          </a:p>
        </p:txBody>
      </p:sp>
      <p:sp>
        <p:nvSpPr>
          <p:cNvPr id="3" name="Subtitle 2">
            <a:extLst xmlns:a="http://schemas.openxmlformats.org/drawingml/2006/main">
              <a:ext uri="{FF2B5EF4-FFF2-40B4-BE49-F238E27FC236}">
                <a16:creationId xmlns:a16="http://schemas.microsoft.com/office/drawing/2014/main" id="{A0EBC784-3390-6E48-B676-501AF2A399CD}"/>
              </a:ext>
            </a:extLst>
          </p:cNvPr>
          <p:cNvSpPr>
            <a:spLocks xmlns:a="http://schemas.openxmlformats.org/drawingml/2006/main" noGrp="1"/>
          </p:cNvSpPr>
          <p:nvPr>
            <p:ph type="subTitle" idx="1"/>
          </p:nvPr>
        </p:nvSpPr>
        <p:spPr>
          <a:xfrm xmlns:a="http://schemas.openxmlformats.org/drawingml/2006/main">
            <a:off x="1524000" y="3602038"/>
            <a:ext cx="9144000" cy="1655762"/>
          </a:xfrm>
        </p:spPr>
        <p:txBody>
          <a:bodyPr xmlns:a="http://schemas.openxmlformats.org/drawingml/2006/main"/>
          <a:lstStyle xmlns:a="http://schemas.openxmlformats.org/drawingml/2006/main">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Click to edit Master subtitle style</a:t>
            </a:r>
            <a:endParaRPr/>
          </a:p>
        </p:txBody>
      </p:sp>
      <p:sp>
        <p:nvSpPr>
          <p:cNvPr id="4" name="Date Placeholder 3">
            <a:extLst xmlns:a="http://schemas.openxmlformats.org/drawingml/2006/main">
              <a:ext uri="{FF2B5EF4-FFF2-40B4-BE49-F238E27FC236}">
                <a16:creationId xmlns:a16="http://schemas.microsoft.com/office/drawing/2014/main" id="{BCBD4940-21E7-03AF-01A6-47FF71A12E9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1D50A58-4347-40DC-B3AC-A94910FFADCA}" type="datetimeFigureOut">
              <a:t>2026-09-15</a:t>
            </a:fld>
            <a:endParaRPr/>
          </a:p>
        </p:txBody>
      </p:sp>
      <p:sp>
        <p:nvSpPr>
          <p:cNvPr id="5" name="Footer Placeholder 4">
            <a:extLst xmlns:a="http://schemas.openxmlformats.org/drawingml/2006/main">
              <a:ext uri="{FF2B5EF4-FFF2-40B4-BE49-F238E27FC236}">
                <a16:creationId xmlns:a16="http://schemas.microsoft.com/office/drawing/2014/main" id="{EC744A72-42F9-E64F-E278-C3AE3F231E2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31B2B58F-7F7B-D966-3543-DD4D315160E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01476AB-87FD-4840-BB27-3C9486047634}"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36017CE-3696-5AA6-CF62-EC4088EF23A2}"/>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6F14A0FD-E59B-8AC2-35D7-5E3D9F79E194}"/>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BF1C47F7-5034-E209-65F9-829B1198E78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1D50A58-4347-40DC-B3AC-A94910FFADCA}" type="datetimeFigureOut">
              <a:t>2026-09-15</a:t>
            </a:fld>
            <a:endParaRPr/>
          </a:p>
        </p:txBody>
      </p:sp>
      <p:sp>
        <p:nvSpPr>
          <p:cNvPr id="5" name="Footer Placeholder 4">
            <a:extLst xmlns:a="http://schemas.openxmlformats.org/drawingml/2006/main">
              <a:ext uri="{FF2B5EF4-FFF2-40B4-BE49-F238E27FC236}">
                <a16:creationId xmlns:a16="http://schemas.microsoft.com/office/drawing/2014/main" id="{5BF4FAAA-D5E8-AD55-CFFD-E78C1328C57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118291DF-8096-BDE2-2532-8BDFF1C2B62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01476AB-87FD-4840-BB27-3C9486047634}"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868DC57-8CDE-54DA-7E76-52187D56614E}"/>
              </a:ext>
            </a:extLst>
          </p:cNvPr>
          <p:cNvSpPr>
            <a:spLocks xmlns:a="http://schemas.openxmlformats.org/drawingml/2006/main" noGrp="1"/>
          </p:cNvSpPr>
          <p:nvPr>
            <p:ph type="title" idx="0"/>
          </p:nvPr>
        </p:nvSpPr>
        <p:spPr>
          <a:xfrm xmlns:a="http://schemas.openxmlformats.org/drawingml/2006/main">
            <a:off x="831850" y="1709738"/>
            <a:ext cx="10515600" cy="2852737"/>
          </a:xfrm>
        </p:spPr>
        <p:txBody>
          <a:bodyPr xmlns:a="http://schemas.openxmlformats.org/drawingml/2006/main" anchor="b"/>
          <a:lstStyle xmlns:a="http://schemas.openxmlformats.org/drawingml/2006/main">
            <a:lvl1pPr>
              <a:buNone/>
              <a:defRPr sz="6000"/>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407560B0-E4D5-8012-5DA1-B9557A57F282}"/>
              </a:ext>
            </a:extLst>
          </p:cNvPr>
          <p:cNvSpPr>
            <a:spLocks xmlns:a="http://schemas.openxmlformats.org/drawingml/2006/main" noGrp="1"/>
          </p:cNvSpPr>
          <p:nvPr>
            <p:ph type="body" idx="1"/>
          </p:nvPr>
        </p:nvSpPr>
        <p:spPr>
          <a:xfrm xmlns:a="http://schemas.openxmlformats.org/drawingml/2006/main">
            <a:off x="831850" y="4589463"/>
            <a:ext cx="10515600" cy="1500187"/>
          </a:xfrm>
        </p:spPr>
        <p:txBody>
          <a:bodyPr xmlns:a="http://schemas.openxmlformats.org/drawingml/2006/main"/>
          <a:lstStyle xmlns:a="http://schemas.openxmlformats.org/drawingml/2006/main">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E14BDE5B-4EF5-388B-F2E9-58A0B09AABF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1D50A58-4347-40DC-B3AC-A94910FFADCA}" type="datetimeFigureOut">
              <a:t>2026-09-15</a:t>
            </a:fld>
            <a:endParaRPr/>
          </a:p>
        </p:txBody>
      </p:sp>
      <p:sp>
        <p:nvSpPr>
          <p:cNvPr id="5" name="Footer Placeholder 4">
            <a:extLst xmlns:a="http://schemas.openxmlformats.org/drawingml/2006/main">
              <a:ext uri="{FF2B5EF4-FFF2-40B4-BE49-F238E27FC236}">
                <a16:creationId xmlns:a16="http://schemas.microsoft.com/office/drawing/2014/main" id="{FE38EFE1-BF08-162B-755D-EFE83571F5C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796E298A-9FFA-164C-CCC6-00CE07168F8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01476AB-87FD-4840-BB27-3C9486047634}"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98DA1EF-E530-57B5-3EBE-6D97852EB39A}"/>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41874634-061D-00AA-F08D-DF7961862C6B}"/>
              </a:ext>
            </a:extLst>
          </p:cNvPr>
          <p:cNvSpPr>
            <a:spLocks xmlns:a="http://schemas.openxmlformats.org/drawingml/2006/main" noGrp="1"/>
          </p:cNvSpPr>
          <p:nvPr>
            <p:ph idx="1"/>
          </p:nvPr>
        </p:nvSpPr>
        <p:spPr>
          <a:xfrm xmlns:a="http://schemas.openxmlformats.org/drawingml/2006/main">
            <a:off x="838200" y="1825625"/>
            <a:ext cx="5181600" cy="435133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Content Placeholder 3">
            <a:extLst xmlns:a="http://schemas.openxmlformats.org/drawingml/2006/main">
              <a:ext uri="{FF2B5EF4-FFF2-40B4-BE49-F238E27FC236}">
                <a16:creationId xmlns:a16="http://schemas.microsoft.com/office/drawing/2014/main" id="{9D06EFD4-FAAF-4004-A034-2154CFAF79A9}"/>
              </a:ext>
            </a:extLst>
          </p:cNvPr>
          <p:cNvSpPr>
            <a:spLocks xmlns:a="http://schemas.openxmlformats.org/drawingml/2006/main" noGrp="1"/>
          </p:cNvSpPr>
          <p:nvPr>
            <p:ph idx="2"/>
          </p:nvPr>
        </p:nvSpPr>
        <p:spPr>
          <a:xfrm xmlns:a="http://schemas.openxmlformats.org/drawingml/2006/main">
            <a:off x="6172200" y="1825625"/>
            <a:ext cx="5181600" cy="435133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Date Placeholder 4">
            <a:extLst xmlns:a="http://schemas.openxmlformats.org/drawingml/2006/main">
              <a:ext uri="{FF2B5EF4-FFF2-40B4-BE49-F238E27FC236}">
                <a16:creationId xmlns:a16="http://schemas.microsoft.com/office/drawing/2014/main" id="{B72284A2-A1B1-6AE2-C754-B6580EC221D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1D50A58-4347-40DC-B3AC-A94910FFADCA}" type="datetimeFigureOut">
              <a:t>2026-09-15</a:t>
            </a:fld>
            <a:endParaRPr/>
          </a:p>
        </p:txBody>
      </p:sp>
      <p:sp>
        <p:nvSpPr>
          <p:cNvPr id="6" name="Footer Placeholder 5">
            <a:extLst xmlns:a="http://schemas.openxmlformats.org/drawingml/2006/main">
              <a:ext uri="{FF2B5EF4-FFF2-40B4-BE49-F238E27FC236}">
                <a16:creationId xmlns:a16="http://schemas.microsoft.com/office/drawing/2014/main" id="{611BFD62-8FDA-10A2-DEB3-0D0629EB4C6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FCAEC1D0-9301-3368-A53D-2AEF0E039BF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01476AB-87FD-4840-BB27-3C9486047634}"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2FF88B1-74CD-2EBA-45E8-C9972E739125}"/>
              </a:ext>
            </a:extLst>
          </p:cNvPr>
          <p:cNvSpPr>
            <a:spLocks xmlns:a="http://schemas.openxmlformats.org/drawingml/2006/main" noGrp="1"/>
          </p:cNvSpPr>
          <p:nvPr>
            <p:ph type="title" idx="0"/>
          </p:nvPr>
        </p:nvSpPr>
        <p:spPr>
          <a:xfrm xmlns:a="http://schemas.openxmlformats.org/drawingml/2006/main">
            <a:off x="839788" y="365125"/>
            <a:ext cx="10515600" cy="1325563"/>
          </a:xfrm>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D12C5D86-306B-C0F4-C994-153F778FFF90}"/>
              </a:ext>
            </a:extLst>
          </p:cNvPr>
          <p:cNvSpPr>
            <a:spLocks xmlns:a="http://schemas.openxmlformats.org/drawingml/2006/main" noGrp="1"/>
          </p:cNvSpPr>
          <p:nvPr>
            <p:ph type="body" idx="1"/>
          </p:nvPr>
        </p:nvSpPr>
        <p:spPr>
          <a:xfrm xmlns:a="http://schemas.openxmlformats.org/drawingml/2006/main">
            <a:off x="839788" y="1681163"/>
            <a:ext cx="5157787" cy="82391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C546DE83-8BAB-0E7B-901A-D0620FAF0504}"/>
              </a:ext>
            </a:extLst>
          </p:cNvPr>
          <p:cNvSpPr>
            <a:spLocks xmlns:a="http://schemas.openxmlformats.org/drawingml/2006/main" noGrp="1"/>
          </p:cNvSpPr>
          <p:nvPr>
            <p:ph idx="2"/>
          </p:nvPr>
        </p:nvSpPr>
        <p:spPr>
          <a:xfrm xmlns:a="http://schemas.openxmlformats.org/drawingml/2006/main">
            <a:off x="839788" y="2505075"/>
            <a:ext cx="5157787" cy="368458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Text Placeholder 4">
            <a:extLst xmlns:a="http://schemas.openxmlformats.org/drawingml/2006/main">
              <a:ext uri="{FF2B5EF4-FFF2-40B4-BE49-F238E27FC236}">
                <a16:creationId xmlns:a16="http://schemas.microsoft.com/office/drawing/2014/main" id="{584ADA47-2CB1-ECAA-DA4A-B6640F96C63A}"/>
              </a:ext>
            </a:extLst>
          </p:cNvPr>
          <p:cNvSpPr>
            <a:spLocks xmlns:a="http://schemas.openxmlformats.org/drawingml/2006/main" noGrp="1"/>
          </p:cNvSpPr>
          <p:nvPr>
            <p:ph type="body" idx="3"/>
          </p:nvPr>
        </p:nvSpPr>
        <p:spPr>
          <a:xfrm xmlns:a="http://schemas.openxmlformats.org/drawingml/2006/main">
            <a:off x="6172200" y="1681163"/>
            <a:ext cx="5183188" cy="82391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4869D534-D6AE-B207-1087-2382660EEB88}"/>
              </a:ext>
            </a:extLst>
          </p:cNvPr>
          <p:cNvSpPr>
            <a:spLocks xmlns:a="http://schemas.openxmlformats.org/drawingml/2006/main" noGrp="1"/>
          </p:cNvSpPr>
          <p:nvPr>
            <p:ph idx="4"/>
          </p:nvPr>
        </p:nvSpPr>
        <p:spPr>
          <a:xfrm xmlns:a="http://schemas.openxmlformats.org/drawingml/2006/main">
            <a:off x="6172200" y="2505075"/>
            <a:ext cx="5183188" cy="368458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7" name="Date Placeholder 6">
            <a:extLst xmlns:a="http://schemas.openxmlformats.org/drawingml/2006/main">
              <a:ext uri="{FF2B5EF4-FFF2-40B4-BE49-F238E27FC236}">
                <a16:creationId xmlns:a16="http://schemas.microsoft.com/office/drawing/2014/main" id="{77BF7647-931F-4406-7508-A89781B3EF5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1D50A58-4347-40DC-B3AC-A94910FFADCA}" type="datetimeFigureOut">
              <a:t>2026-09-15</a:t>
            </a:fld>
            <a:endParaRPr/>
          </a:p>
        </p:txBody>
      </p:sp>
      <p:sp>
        <p:nvSpPr>
          <p:cNvPr id="8" name="Footer Placeholder 7">
            <a:extLst xmlns:a="http://schemas.openxmlformats.org/drawingml/2006/main">
              <a:ext uri="{FF2B5EF4-FFF2-40B4-BE49-F238E27FC236}">
                <a16:creationId xmlns:a16="http://schemas.microsoft.com/office/drawing/2014/main" id="{62895697-294C-D785-9BCD-30E33BB07A9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CE0FEE66-9447-2650-97D9-C6B83218576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01476AB-87FD-4840-BB27-3C9486047634}"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3FE0F89-DCF2-5048-7DB9-4CBF243DD158}"/>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Date Placeholder 2">
            <a:extLst xmlns:a="http://schemas.openxmlformats.org/drawingml/2006/main">
              <a:ext uri="{FF2B5EF4-FFF2-40B4-BE49-F238E27FC236}">
                <a16:creationId xmlns:a16="http://schemas.microsoft.com/office/drawing/2014/main" id="{9F7DED81-7797-9C03-B546-E96E55AC2EE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1D50A58-4347-40DC-B3AC-A94910FFADCA}" type="datetimeFigureOut">
              <a:t>2026-09-15</a:t>
            </a:fld>
            <a:endParaRPr/>
          </a:p>
        </p:txBody>
      </p:sp>
      <p:sp>
        <p:nvSpPr>
          <p:cNvPr id="4" name="Footer Placeholder 3">
            <a:extLst xmlns:a="http://schemas.openxmlformats.org/drawingml/2006/main">
              <a:ext uri="{FF2B5EF4-FFF2-40B4-BE49-F238E27FC236}">
                <a16:creationId xmlns:a16="http://schemas.microsoft.com/office/drawing/2014/main" id="{609D0335-8333-6F78-16E2-1747D5D599A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1D8732BA-AC80-BF26-060B-9A0A95FFC1A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01476AB-87FD-4840-BB27-3C9486047634}"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C01A776E-6E8C-163C-1465-6044D059FB3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1D50A58-4347-40DC-B3AC-A94910FFADCA}" type="datetimeFigureOut">
              <a:t>2026-09-15</a:t>
            </a:fld>
            <a:endParaRPr/>
          </a:p>
        </p:txBody>
      </p:sp>
      <p:sp>
        <p:nvSpPr>
          <p:cNvPr id="3" name="Footer Placeholder 2">
            <a:extLst xmlns:a="http://schemas.openxmlformats.org/drawingml/2006/main">
              <a:ext uri="{FF2B5EF4-FFF2-40B4-BE49-F238E27FC236}">
                <a16:creationId xmlns:a16="http://schemas.microsoft.com/office/drawing/2014/main" id="{405E05A2-ED74-2C76-257D-D01879D7206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68CE4A64-9ED2-CC1D-7FD5-AAEE2FE775E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01476AB-87FD-4840-BB27-3C9486047634}"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DC37264-09BF-BF45-5A60-EB1198846E5E}"/>
              </a:ext>
            </a:extLst>
          </p:cNvPr>
          <p:cNvSpPr>
            <a:spLocks xmlns:a="http://schemas.openxmlformats.org/drawingml/2006/main" noGrp="1"/>
          </p:cNvSpPr>
          <p:nvPr>
            <p:ph type="title" idx="0"/>
          </p:nvPr>
        </p:nvSpPr>
        <p:spPr>
          <a:xfrm xmlns:a="http://schemas.openxmlformats.org/drawingml/2006/main">
            <a:off x="839788" y="457200"/>
            <a:ext cx="3932237" cy="1600200"/>
          </a:xfrm>
        </p:spPr>
        <p:txBody>
          <a:bodyPr xmlns:a="http://schemas.openxmlformats.org/drawingml/2006/main" anchor="b"/>
          <a:lstStyle xmlns:a="http://schemas.openxmlformats.org/drawingml/2006/main">
            <a:lvl1pPr>
              <a:buNone/>
              <a:defRPr sz="3200"/>
            </a:lvl1pPr>
          </a:lstStyle>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BD02DD84-A7D3-F866-3577-9214BB86A948}"/>
              </a:ext>
            </a:extLst>
          </p:cNvPr>
          <p:cNvSpPr>
            <a:spLocks xmlns:a="http://schemas.openxmlformats.org/drawingml/2006/main" noGrp="1"/>
          </p:cNvSpPr>
          <p:nvPr>
            <p:ph idx="1"/>
          </p:nvPr>
        </p:nvSpPr>
        <p:spPr>
          <a:xfrm xmlns:a="http://schemas.openxmlformats.org/drawingml/2006/main">
            <a:off x="5183188" y="987425"/>
            <a:ext cx="6172200" cy="4873625"/>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Text Placeholder 3">
            <a:extLst xmlns:a="http://schemas.openxmlformats.org/drawingml/2006/main">
              <a:ext uri="{FF2B5EF4-FFF2-40B4-BE49-F238E27FC236}">
                <a16:creationId xmlns:a16="http://schemas.microsoft.com/office/drawing/2014/main" id="{C0F1DB0B-5711-5EFB-45F3-09509A3C3705}"/>
              </a:ext>
            </a:extLst>
          </p:cNvPr>
          <p:cNvSpPr>
            <a:spLocks xmlns:a="http://schemas.openxmlformats.org/drawingml/2006/main" noGrp="1"/>
          </p:cNvSpPr>
          <p:nvPr>
            <p:ph type="body" idx="2"/>
          </p:nvPr>
        </p:nvSpPr>
        <p:spPr>
          <a:xfrm xmlns:a="http://schemas.openxmlformats.org/drawingml/2006/main">
            <a:off x="839788" y="2057400"/>
            <a:ext cx="3932237" cy="3811588"/>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A63E2325-EF21-DE07-0CFC-BA44854E3C7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1D50A58-4347-40DC-B3AC-A94910FFADCA}" type="datetimeFigureOut">
              <a:t>2026-09-15</a:t>
            </a:fld>
            <a:endParaRPr/>
          </a:p>
        </p:txBody>
      </p:sp>
      <p:sp>
        <p:nvSpPr>
          <p:cNvPr id="6" name="Footer Placeholder 5">
            <a:extLst xmlns:a="http://schemas.openxmlformats.org/drawingml/2006/main">
              <a:ext uri="{FF2B5EF4-FFF2-40B4-BE49-F238E27FC236}">
                <a16:creationId xmlns:a16="http://schemas.microsoft.com/office/drawing/2014/main" id="{9C13FA8F-3A81-0B05-0E57-617698DE047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87051BD2-661B-D023-76C9-85A50D4F8BF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01476AB-87FD-4840-BB27-3C9486047634}"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57D8927-84D0-59E1-EB7E-BFC269432D2C}"/>
              </a:ext>
            </a:extLst>
          </p:cNvPr>
          <p:cNvSpPr>
            <a:spLocks xmlns:a="http://schemas.openxmlformats.org/drawingml/2006/main" noGrp="1"/>
          </p:cNvSpPr>
          <p:nvPr>
            <p:ph type="title" idx="0"/>
          </p:nvPr>
        </p:nvSpPr>
        <p:spPr>
          <a:xfrm xmlns:a="http://schemas.openxmlformats.org/drawingml/2006/main">
            <a:off x="839788" y="457200"/>
            <a:ext cx="3932237" cy="1600200"/>
          </a:xfrm>
        </p:spPr>
        <p:txBody>
          <a:bodyPr xmlns:a="http://schemas.openxmlformats.org/drawingml/2006/main" anchor="b"/>
          <a:lstStyle xmlns:a="http://schemas.openxmlformats.org/drawingml/2006/main">
            <a:lvl1pPr>
              <a:buNone/>
              <a:defRPr sz="3200"/>
            </a:lvl1pPr>
          </a:lstStyle>
          <a:p xmlns:a="http://schemas.openxmlformats.org/drawingml/2006/main">
            <a:r>
              <a:t>Click to edit Master title style</a:t>
            </a:r>
            <a:endParaRPr/>
          </a:p>
        </p:txBody>
      </p:sp>
      <p:sp>
        <p:nvSpPr>
          <p:cNvPr id="3" name="Picture Placeholder 2">
            <a:extLst xmlns:a="http://schemas.openxmlformats.org/drawingml/2006/main">
              <a:ext uri="{FF2B5EF4-FFF2-40B4-BE49-F238E27FC236}">
                <a16:creationId xmlns:a16="http://schemas.microsoft.com/office/drawing/2014/main" id="{9671DD01-67C2-36A0-C565-2F4E1DD781E6}"/>
              </a:ext>
            </a:extLst>
          </p:cNvPr>
          <p:cNvSpPr>
            <a:spLocks xmlns:a="http://schemas.openxmlformats.org/drawingml/2006/main" noGrp="1"/>
          </p:cNvSpPr>
          <p:nvPr>
            <p:ph type="pic" idx="1"/>
          </p:nvPr>
        </p:nvSpPr>
        <p:spPr>
          <a:xfrm xmlns:a="http://schemas.openxmlformats.org/drawingml/2006/main">
            <a:off x="5183188" y="987425"/>
            <a:ext cx="6172200" cy="4873625"/>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a:p>
        </p:txBody>
      </p:sp>
      <p:sp>
        <p:nvSpPr>
          <p:cNvPr id="4" name="Text Placeholder 3">
            <a:extLst xmlns:a="http://schemas.openxmlformats.org/drawingml/2006/main">
              <a:ext uri="{FF2B5EF4-FFF2-40B4-BE49-F238E27FC236}">
                <a16:creationId xmlns:a16="http://schemas.microsoft.com/office/drawing/2014/main" id="{FCEEA535-D498-45E4-A561-60EC6C9296C5}"/>
              </a:ext>
            </a:extLst>
          </p:cNvPr>
          <p:cNvSpPr>
            <a:spLocks xmlns:a="http://schemas.openxmlformats.org/drawingml/2006/main" noGrp="1"/>
          </p:cNvSpPr>
          <p:nvPr>
            <p:ph type="body" idx="2"/>
          </p:nvPr>
        </p:nvSpPr>
        <p:spPr>
          <a:xfrm xmlns:a="http://schemas.openxmlformats.org/drawingml/2006/main">
            <a:off x="839788" y="2057400"/>
            <a:ext cx="3932237" cy="3811588"/>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E3824660-5B04-BA55-27FE-7E5129C6F27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1D50A58-4347-40DC-B3AC-A94910FFADCA}" type="datetimeFigureOut">
              <a:t>2026-09-15</a:t>
            </a:fld>
            <a:endParaRPr/>
          </a:p>
        </p:txBody>
      </p:sp>
      <p:sp>
        <p:nvSpPr>
          <p:cNvPr id="6" name="Footer Placeholder 5">
            <a:extLst xmlns:a="http://schemas.openxmlformats.org/drawingml/2006/main">
              <a:ext uri="{FF2B5EF4-FFF2-40B4-BE49-F238E27FC236}">
                <a16:creationId xmlns:a16="http://schemas.microsoft.com/office/drawing/2014/main" id="{40F7574A-F2DB-4561-7EDF-E2E369E616D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AAAA1D0D-1734-9D4D-1778-9D60736A6B1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01476AB-87FD-4840-BB27-3C9486047634}"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302FBA9-D3A8-F225-1480-ABFB67E4F596}"/>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C17909B0-CEED-A55D-B2EA-F17390BBC3B8}"/>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ED8EE241-574F-8FDF-21B9-83C41B7D46B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1D50A58-4347-40DC-B3AC-A94910FFADCA}" type="datetimeFigureOut">
              <a:t>2026-09-15</a:t>
            </a:fld>
            <a:endParaRPr/>
          </a:p>
        </p:txBody>
      </p:sp>
      <p:sp>
        <p:nvSpPr>
          <p:cNvPr id="5" name="Footer Placeholder 4">
            <a:extLst xmlns:a="http://schemas.openxmlformats.org/drawingml/2006/main">
              <a:ext uri="{FF2B5EF4-FFF2-40B4-BE49-F238E27FC236}">
                <a16:creationId xmlns:a16="http://schemas.microsoft.com/office/drawing/2014/main" id="{6BF1119B-AD71-E745-E6F7-172C79F721A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43C3118A-5D3D-2B30-41E2-153B790D2D7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01476AB-87FD-4840-BB27-3C9486047634}"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4FEFAE57-4251-5CCA-306A-D4A084FD3882}"/>
              </a:ext>
            </a:extLst>
          </p:cNvPr>
          <p:cNvSpPr>
            <a:spLocks xmlns:a="http://schemas.openxmlformats.org/drawingml/2006/main" noGrp="1"/>
          </p:cNvSpPr>
          <p:nvPr>
            <p:ph type="title" idx="0"/>
          </p:nvPr>
        </p:nvSpPr>
        <p:spPr>
          <a:xfrm xmlns:a="http://schemas.openxmlformats.org/drawingml/2006/main">
            <a:off x="8724900" y="365125"/>
            <a:ext cx="2628900" cy="5811838"/>
          </a:xfrm>
        </p:spPr>
        <p:txBody>
          <a:bodyPr xmlns:a="http://schemas.openxmlformats.org/drawingml/2006/main" vert="eaVert"/>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C42CEEFF-681E-D246-98FD-EC1E974D7D4A}"/>
              </a:ext>
            </a:extLst>
          </p:cNvPr>
          <p:cNvSpPr>
            <a:spLocks xmlns:a="http://schemas.openxmlformats.org/drawingml/2006/main" noGrp="1"/>
          </p:cNvSpPr>
          <p:nvPr>
            <p:ph type="body" idx="1"/>
          </p:nvPr>
        </p:nvSpPr>
        <p:spPr>
          <a:xfrm xmlns:a="http://schemas.openxmlformats.org/drawingml/2006/main">
            <a:off x="838200" y="365125"/>
            <a:ext cx="7734300" cy="5811838"/>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403DDA73-7DFD-1E1D-7EBE-BB84A8D33BA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1D50A58-4347-40DC-B3AC-A94910FFADCA}" type="datetimeFigureOut">
              <a:t>2026-09-15</a:t>
            </a:fld>
            <a:endParaRPr/>
          </a:p>
        </p:txBody>
      </p:sp>
      <p:sp>
        <p:nvSpPr>
          <p:cNvPr id="5" name="Footer Placeholder 4">
            <a:extLst xmlns:a="http://schemas.openxmlformats.org/drawingml/2006/main">
              <a:ext uri="{FF2B5EF4-FFF2-40B4-BE49-F238E27FC236}">
                <a16:creationId xmlns:a16="http://schemas.microsoft.com/office/drawing/2014/main" id="{2C01F590-F144-EA9D-A6C9-599CE096A07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2A2B18E3-0441-975F-CCC2-53664CD8A56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01476AB-87FD-4840-BB27-3C9486047634}"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b6ca03164834f4f" /><Relationship Type="http://schemas.openxmlformats.org/officeDocument/2006/relationships/slideLayout" Target="/ppt/slideLayouts/slideLayout1.xml" Id="R6f0fff94bf0c49c9" /><Relationship Type="http://schemas.openxmlformats.org/officeDocument/2006/relationships/slideLayout" Target="/ppt/slideLayouts/slideLayout2.xml" Id="R39659b9fc05647c7" /><Relationship Type="http://schemas.openxmlformats.org/officeDocument/2006/relationships/slideLayout" Target="/ppt/slideLayouts/slideLayout3.xml" Id="R6430d479b66e4763" /><Relationship Type="http://schemas.openxmlformats.org/officeDocument/2006/relationships/slideLayout" Target="/ppt/slideLayouts/slideLayout4.xml" Id="Rdb55af69fa8c41d6" /><Relationship Type="http://schemas.openxmlformats.org/officeDocument/2006/relationships/slideLayout" Target="/ppt/slideLayouts/slideLayout5.xml" Id="Rbab5665aaa7a44a5" /><Relationship Type="http://schemas.openxmlformats.org/officeDocument/2006/relationships/slideLayout" Target="/ppt/slideLayouts/slideLayout6.xml" Id="Rf57e6379087c4365" /><Relationship Type="http://schemas.openxmlformats.org/officeDocument/2006/relationships/slideLayout" Target="/ppt/slideLayouts/slideLayout7.xml" Id="Rd55a0d73110c4490" /><Relationship Type="http://schemas.openxmlformats.org/officeDocument/2006/relationships/slideLayout" Target="/ppt/slideLayouts/slideLayout8.xml" Id="R1cf729278f8c4265" /><Relationship Type="http://schemas.openxmlformats.org/officeDocument/2006/relationships/slideLayout" Target="/ppt/slideLayouts/slideLayout9.xml" Id="Rf679da53430e4a83" /><Relationship Type="http://schemas.openxmlformats.org/officeDocument/2006/relationships/slideLayout" Target="/ppt/slideLayouts/slideLayout10.xml" Id="R6d3476d6c09049b0" /><Relationship Type="http://schemas.openxmlformats.org/officeDocument/2006/relationships/slideLayout" Target="/ppt/slideLayouts/slideLayout11.xml" Id="R7a43733f39c14e56"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4C3DEAB0-FFD7-2B44-74EB-EAB6BB162D05}"/>
              </a:ext>
            </a:extLst>
          </p:cNvPr>
          <p:cNvSpPr>
            <a:spLocks xmlns:a="http://schemas.openxmlformats.org/drawingml/2006/main" noGrp="1"/>
          </p:cNvSpPr>
          <p:nvPr>
            <p:ph type="title" idx="0"/>
          </p:nvPr>
        </p:nvSpPr>
        <p:spPr>
          <a:xfrm xmlns:a="http://schemas.openxmlformats.org/drawingml/2006/main">
            <a:off x="838200" y="365125"/>
            <a:ext cx="10515600" cy="1325563"/>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02F6C57D-E01D-E008-74DF-DE95C4A5F3DD}"/>
              </a:ext>
            </a:extLst>
          </p:cNvPr>
          <p:cNvSpPr>
            <a:spLocks xmlns:a="http://schemas.openxmlformats.org/drawingml/2006/main" noGrp="1"/>
          </p:cNvSpPr>
          <p:nvPr>
            <p:ph type="body" idx="1"/>
          </p:nvPr>
        </p:nvSpPr>
        <p:spPr>
          <a:xfrm xmlns:a="http://schemas.openxmlformats.org/drawingml/2006/main">
            <a:off x="838200" y="1825625"/>
            <a:ext cx="10515600" cy="4351338"/>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6B7DD596-2757-3709-51F5-503AA00F6328}"/>
              </a:ext>
            </a:extLst>
          </p:cNvPr>
          <p:cNvSpPr>
            <a:spLocks xmlns:a="http://schemas.openxmlformats.org/drawingml/2006/main" noGrp="1"/>
          </p:cNvSpPr>
          <p:nvPr>
            <p:ph type="dt" idx="2"/>
          </p:nvPr>
        </p:nvSpPr>
        <p:spPr>
          <a:xfrm xmlns:a="http://schemas.openxmlformats.org/drawingml/2006/main">
            <a:off x="8382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82000"/>
                  </a:schemeClr>
                </a:solidFill>
              </a:defRPr>
            </a:lvl1pPr>
          </a:lstStyle>
          <a:p xmlns:a="http://schemas.openxmlformats.org/drawingml/2006/main">
            <a:fld id="{11D50A58-4347-40DC-B3AC-A94910FFADCA}" type="datetimeFigureOut">
              <a:t>2026-09-15</a:t>
            </a:fld>
            <a:endParaRPr/>
          </a:p>
        </p:txBody>
      </p:sp>
      <p:sp>
        <p:nvSpPr>
          <p:cNvPr id="5" name="Footer Placeholder 4">
            <a:extLst xmlns:a="http://schemas.openxmlformats.org/drawingml/2006/main">
              <a:ext uri="{FF2B5EF4-FFF2-40B4-BE49-F238E27FC236}">
                <a16:creationId xmlns:a16="http://schemas.microsoft.com/office/drawing/2014/main" id="{47238E2E-F77D-24CD-5E94-7E8F31A0C765}"/>
              </a:ext>
            </a:extLst>
          </p:cNvPr>
          <p:cNvSpPr>
            <a:spLocks xmlns:a="http://schemas.openxmlformats.org/drawingml/2006/main" noGrp="1"/>
          </p:cNvSpPr>
          <p:nvPr>
            <p:ph type="ftr" idx="3"/>
          </p:nvPr>
        </p:nvSpPr>
        <p:spPr>
          <a:xfrm xmlns:a="http://schemas.openxmlformats.org/drawingml/2006/main">
            <a:off x="4038600" y="6356350"/>
            <a:ext cx="41148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82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646A93E9-1879-E9C2-B1B9-52DEFC44A099}"/>
              </a:ext>
            </a:extLst>
          </p:cNvPr>
          <p:cNvSpPr>
            <a:spLocks xmlns:a="http://schemas.openxmlformats.org/drawingml/2006/main" noGrp="1"/>
          </p:cNvSpPr>
          <p:nvPr>
            <p:ph type="sldNum" idx="4"/>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82000"/>
                  </a:schemeClr>
                </a:solidFill>
              </a:defRPr>
            </a:lvl1pPr>
          </a:lstStyle>
          <a:p xmlns:a="http://schemas.openxmlformats.org/drawingml/2006/main">
            <a:fld id="{B01476AB-87FD-4840-BB27-3C9486047634}"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f0fff94bf0c49c9"/>
    <p:sldLayoutId xmlns:r="http://schemas.openxmlformats.org/officeDocument/2006/relationships" id="2147483650" r:id="R39659b9fc05647c7"/>
    <p:sldLayoutId xmlns:r="http://schemas.openxmlformats.org/officeDocument/2006/relationships" id="2147483651" r:id="R6430d479b66e4763"/>
    <p:sldLayoutId xmlns:r="http://schemas.openxmlformats.org/officeDocument/2006/relationships" id="2147483652" r:id="Rdb55af69fa8c41d6"/>
    <p:sldLayoutId xmlns:r="http://schemas.openxmlformats.org/officeDocument/2006/relationships" id="2147483653" r:id="Rbab5665aaa7a44a5"/>
    <p:sldLayoutId xmlns:r="http://schemas.openxmlformats.org/officeDocument/2006/relationships" id="2147483654" r:id="Rf57e6379087c4365"/>
    <p:sldLayoutId xmlns:r="http://schemas.openxmlformats.org/officeDocument/2006/relationships" id="2147483655" r:id="Rd55a0d73110c4490"/>
    <p:sldLayoutId xmlns:r="http://schemas.openxmlformats.org/officeDocument/2006/relationships" id="2147483656" r:id="R1cf729278f8c4265"/>
    <p:sldLayoutId xmlns:r="http://schemas.openxmlformats.org/officeDocument/2006/relationships" id="2147483657" r:id="Rf679da53430e4a83"/>
    <p:sldLayoutId xmlns:r="http://schemas.openxmlformats.org/officeDocument/2006/relationships" id="2147483658" r:id="R6d3476d6c09049b0"/>
    <p:sldLayoutId xmlns:r="http://schemas.openxmlformats.org/officeDocument/2006/relationships" id="2147483659" r:id="R7a43733f39c14e56"/>
  </p:sldLayoutIdLst>
  <p:txStyles>
    <p:titleStyle>
      <a:lvl1pPr xmlns:a="http://schemas.openxmlformats.org/drawingml/2006/main" algn="l" defTabSz="914400">
        <a:lnSpc>
          <a:spcPct val="90000"/>
        </a:lnSpc>
        <a:spcBef>
          <a:spcPct val="0"/>
        </a:spcBef>
        <a:buNone/>
        <a:defRPr sz="4400" kern="12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7.xml" Id="Rddfa16629b994a77" /><Relationship Type="http://schemas.openxmlformats.org/officeDocument/2006/relationships/hyperlink" Target="https://www.lime-green.co.uk/products/lime-render/duro" TargetMode="External" Id="R3c9ff824c03d42e6" /><Relationship Type="http://schemas.openxmlformats.org/officeDocument/2006/relationships/notesSlide" Target="/ppt/notesSlides/notesSlide1.xml" Id="R7c4214a3fd7d405f" /></Relationships>
</file>

<file path=ppt/slides/_rels/slide2.xml.rels>&#65279;<?xml version="1.0" encoding="utf-8"?><Relationships xmlns="http://schemas.openxmlformats.org/package/2006/relationships"><Relationship Type="http://schemas.openxmlformats.org/officeDocument/2006/relationships/slideLayout" Target="/ppt/slideLayouts/slideLayout7.xml" Id="Rf20763b1ac3e4beb" /><Relationship Type="http://schemas.openxmlformats.org/officeDocument/2006/relationships/notesSlide" Target="/ppt/notesSlides/notesSlide2.xml" Id="R7b3d5efb8fc84002" /></Relationships>
</file>

<file path=ppt/slides/_rels/slide3.xml.rels>&#65279;<?xml version="1.0" encoding="utf-8"?><Relationships xmlns="http://schemas.openxmlformats.org/package/2006/relationships"><Relationship Type="http://schemas.openxmlformats.org/officeDocument/2006/relationships/slideLayout" Target="/ppt/slideLayouts/slideLayout7.xml" Id="Rf9be0e6283a147ce" /><Relationship Type="http://schemas.openxmlformats.org/officeDocument/2006/relationships/notesSlide" Target="/ppt/notesSlides/notesSlide3.xml" Id="R64456ad76e4b42a6" /></Relationships>
</file>

<file path=ppt/slides/slide1.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17" name="section">
            <a:extLst xmlns:a="http://schemas.openxmlformats.org/drawingml/2006/main">
              <a:ext uri="{FF2B5EF4-FFF2-40B4-BE49-F238E27FC236}">
                <a16:creationId xmlns:a16="http://schemas.microsoft.com/office/drawing/2014/main" id="{BA3E2E86-B6EE-46A1-8012-CC64AD4E81EA}"/>
              </a:ext>
            </a:extLst>
          </p:cNvPr>
          <p:cNvSpPr>
            <a:spLocks xmlns:a="http://schemas.openxmlformats.org/drawingml/2006/main" noGrp="1"/>
          </p:cNvSpPr>
          <p:nvPr/>
        </p:nvSpPr>
        <p:spPr>
          <a:xfrm xmlns:a="http://schemas.openxmlformats.org/drawingml/2006/main">
            <a:off x="514350" y="333375"/>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39741B"/>
                </a:solidFill>
                <a:latin typeface="Segoe UI"/>
                <a:ea typeface="Segoe UI"/>
                <a:cs typeface="Segoe UI"/>
              </a:defRPr>
            </a:pPr>
            <a:r>
              <a:rPr sz="1275" b="1">
                <a:solidFill>
                  <a:srgbClr val="39741B"/>
                </a:solidFill>
                <a:latin typeface="Segoe UI"/>
                <a:ea typeface="Segoe UI"/>
                <a:cs typeface="Segoe UI"/>
              </a:rPr>
              <a:t>APPROACH</a:t>
            </a:r>
          </a:p>
        </p:txBody>
      </p:sp>
      <p:sp>
        <p:nvSpPr>
          <p:cNvPr id="2" name="footer">
            <a:extLst xmlns:a="http://schemas.openxmlformats.org/drawingml/2006/main">
              <a:ext uri="{FF2B5EF4-FFF2-40B4-BE49-F238E27FC236}">
                <a16:creationId xmlns:a16="http://schemas.microsoft.com/office/drawing/2014/main" id="{3E0955F7-B4D3-4654-9C17-78E5E5439445}"/>
              </a:ext>
            </a:extLst>
          </p:cNvPr>
          <p:cNvSpPr>
            <a:spLocks xmlns:a="http://schemas.openxmlformats.org/drawingml/2006/main" noGrp="1"/>
          </p:cNvSpPr>
          <p:nvPr/>
        </p:nvSpPr>
        <p:spPr>
          <a:xfrm xmlns:a="http://schemas.openxmlformats.org/drawingml/2006/main">
            <a:off x="514350" y="6486525"/>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45C54"/>
                </a:solidFill>
                <a:latin typeface="Segoe UI"/>
                <a:ea typeface="Segoe UI"/>
                <a:cs typeface="Segoe UI"/>
              </a:defRPr>
            </a:pPr>
            <a:r>
              <a:rPr sz="1125" b="0">
                <a:solidFill>
                  <a:srgbClr val="545C54"/>
                </a:solidFill>
                <a:latin typeface="Segoe UI"/>
                <a:ea typeface="Segoe UI"/>
                <a:cs typeface="Segoe UI"/>
              </a:rPr>
              <a:t>Nduka Nwagbo</a:t>
            </a:r>
          </a:p>
        </p:txBody>
      </p:sp>
      <p:sp>
        <p:nvSpPr>
          <p:cNvPr id="3" name="page">
            <a:extLst xmlns:a="http://schemas.openxmlformats.org/drawingml/2006/main">
              <a:ext uri="{FF2B5EF4-FFF2-40B4-BE49-F238E27FC236}">
                <a16:creationId xmlns:a16="http://schemas.microsoft.com/office/drawing/2014/main" id="{A8E38BCE-3592-4566-8E8D-EC2CEF48FF44}"/>
              </a:ext>
            </a:extLst>
          </p:cNvPr>
          <p:cNvSpPr>
            <a:spLocks xmlns:a="http://schemas.openxmlformats.org/drawingml/2006/main" noGrp="1"/>
          </p:cNvSpPr>
          <p:nvPr/>
        </p:nvSpPr>
        <p:spPr>
          <a:xfrm xmlns:a="http://schemas.openxmlformats.org/drawingml/2006/main">
            <a:off x="11049000" y="6486525"/>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45C54"/>
                </a:solidFill>
                <a:latin typeface="Segoe UI"/>
                <a:ea typeface="Segoe UI"/>
                <a:cs typeface="Segoe UI"/>
              </a:defRPr>
            </a:pPr>
            <a:r>
              <a:rPr sz="1125" b="0">
                <a:solidFill>
                  <a:srgbClr val="545C54"/>
                </a:solidFill>
                <a:latin typeface="Segoe UI"/>
                <a:ea typeface="Segoe UI"/>
                <a:cs typeface="Segoe UI"/>
              </a:rPr>
              <a:t>1 / 3</a:t>
            </a:r>
          </a:p>
        </p:txBody>
      </p:sp>
      <p:sp>
        <p:nvSpPr>
          <p:cNvPr id="4" name="title">
            <a:extLst xmlns:a="http://schemas.openxmlformats.org/drawingml/2006/main">
              <a:ext uri="{FF2B5EF4-FFF2-40B4-BE49-F238E27FC236}">
                <a16:creationId xmlns:a16="http://schemas.microsoft.com/office/drawing/2014/main" id="{08D1CB33-77F9-4590-98B1-4480B879B51E}"/>
              </a:ext>
            </a:extLst>
          </p:cNvPr>
          <p:cNvSpPr>
            <a:spLocks xmlns:a="http://schemas.openxmlformats.org/drawingml/2006/main" noGrp="1"/>
          </p:cNvSpPr>
          <p:nvPr/>
        </p:nvSpPr>
        <p:spPr>
          <a:xfrm xmlns:a="http://schemas.openxmlformats.org/drawingml/2006/main">
            <a:off x="514350" y="704850"/>
            <a:ext cx="111633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292929"/>
                </a:solidFill>
                <a:latin typeface="Segoe UI"/>
                <a:ea typeface="Segoe UI"/>
                <a:cs typeface="Segoe UI"/>
              </a:defRPr>
            </a:pPr>
            <a:r>
              <a:rPr sz="3000" b="1">
                <a:solidFill>
                  <a:srgbClr val="292929"/>
                </a:solidFill>
                <a:latin typeface="Segoe UI"/>
                <a:ea typeface="Segoe UI"/>
                <a:cs typeface="Segoe UI"/>
              </a:rPr>
              <a:t>A local assistant with traceable answers</a:t>
            </a:r>
          </a:p>
        </p:txBody>
      </p:sp>
      <p:sp>
        <p:nvSpPr>
          <p:cNvPr id="5" name="purpose">
            <a:extLst xmlns:a="http://schemas.openxmlformats.org/drawingml/2006/main">
              <a:ext uri="{FF2B5EF4-FFF2-40B4-BE49-F238E27FC236}">
                <a16:creationId xmlns:a16="http://schemas.microsoft.com/office/drawing/2014/main" id="{7419B4AC-FB52-4D13-B1A7-5BB96E458583}"/>
              </a:ext>
            </a:extLst>
          </p:cNvPr>
          <p:cNvSpPr>
            <a:spLocks xmlns:a="http://schemas.openxmlformats.org/drawingml/2006/main" noGrp="1"/>
          </p:cNvSpPr>
          <p:nvPr/>
        </p:nvSpPr>
        <p:spPr>
          <a:xfrm xmlns:a="http://schemas.openxmlformats.org/drawingml/2006/main">
            <a:off x="514350" y="1333500"/>
            <a:ext cx="1104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545C54"/>
                </a:solidFill>
                <a:latin typeface="Segoe UI"/>
                <a:ea typeface="Segoe UI"/>
                <a:cs typeface="Segoe UI"/>
              </a:defRPr>
            </a:pPr>
            <a:r>
              <a:rPr sz="1950" b="0">
                <a:solidFill>
                  <a:srgbClr val="545C54"/>
                </a:solidFill>
                <a:latin typeface="Segoe UI"/>
                <a:ea typeface="Segoe UI"/>
                <a:cs typeface="Segoe UI"/>
              </a:rPr>
              <a:t>Questions about Lime Green products, answered from its website</a:t>
            </a:r>
          </a:p>
        </p:txBody>
      </p:sp>
      <p:sp>
        <p:nvSpPr>
          <p:cNvPr id="6" name="example heading">
            <a:extLst xmlns:a="http://schemas.openxmlformats.org/drawingml/2006/main">
              <a:ext uri="{FF2B5EF4-FFF2-40B4-BE49-F238E27FC236}">
                <a16:creationId xmlns:a16="http://schemas.microsoft.com/office/drawing/2014/main" id="{58B67BF6-6D69-4F08-965A-78FF8617C83E}"/>
              </a:ext>
            </a:extLst>
          </p:cNvPr>
          <p:cNvSpPr>
            <a:spLocks xmlns:a="http://schemas.openxmlformats.org/drawingml/2006/main" noGrp="1"/>
          </p:cNvSpPr>
          <p:nvPr/>
        </p:nvSpPr>
        <p:spPr>
          <a:xfrm xmlns:a="http://schemas.openxmlformats.org/drawingml/2006/main">
            <a:off x="514350" y="2038350"/>
            <a:ext cx="590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39741B"/>
                </a:solidFill>
                <a:latin typeface="Segoe UI"/>
                <a:ea typeface="Segoe UI"/>
                <a:cs typeface="Segoe UI"/>
              </a:defRPr>
            </a:pPr>
            <a:r>
              <a:rPr sz="1350" b="1">
                <a:solidFill>
                  <a:srgbClr val="39741B"/>
                </a:solidFill>
                <a:latin typeface="Segoe UI"/>
                <a:ea typeface="Segoe UI"/>
                <a:cs typeface="Segoe UI"/>
              </a:rPr>
              <a:t>PRODUCT QUESTION</a:t>
            </a:r>
          </a:p>
        </p:txBody>
      </p:sp>
      <p:sp>
        <p:nvSpPr>
          <p:cNvPr id="7" name="question">
            <a:extLst xmlns:a="http://schemas.openxmlformats.org/drawingml/2006/main">
              <a:ext uri="{FF2B5EF4-FFF2-40B4-BE49-F238E27FC236}">
                <a16:creationId xmlns:a16="http://schemas.microsoft.com/office/drawing/2014/main" id="{E89B2D38-863C-4750-B1FD-C75EEFBB5B1E}"/>
              </a:ext>
            </a:extLst>
          </p:cNvPr>
          <p:cNvSpPr>
            <a:spLocks xmlns:a="http://schemas.openxmlformats.org/drawingml/2006/main" noGrp="1"/>
          </p:cNvSpPr>
          <p:nvPr/>
        </p:nvSpPr>
        <p:spPr>
          <a:xfrm xmlns:a="http://schemas.openxmlformats.org/drawingml/2006/main">
            <a:off x="514350" y="2400300"/>
            <a:ext cx="59055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292929"/>
                </a:solidFill>
                <a:latin typeface="Segoe UI"/>
                <a:ea typeface="Segoe UI"/>
                <a:cs typeface="Segoe UI"/>
              </a:defRPr>
            </a:pPr>
            <a:r>
              <a:rPr sz="2100" b="1">
                <a:solidFill>
                  <a:srgbClr val="292929"/>
                </a:solidFill>
                <a:latin typeface="Segoe UI"/>
                <a:ea typeface="Segoe UI"/>
                <a:cs typeface="Segoe UI"/>
              </a:rPr>
              <a:t>Does Duro lime render base coat contain any cement?</a:t>
            </a:r>
          </a:p>
        </p:txBody>
      </p:sp>
      <p:sp>
        <p:nvSpPr>
          <p:cNvPr id="8" name="answer">
            <a:extLst xmlns:a="http://schemas.openxmlformats.org/drawingml/2006/main">
              <a:ext uri="{FF2B5EF4-FFF2-40B4-BE49-F238E27FC236}">
                <a16:creationId xmlns:a16="http://schemas.microsoft.com/office/drawing/2014/main" id="{E865E454-9630-4452-BE4D-EB4E9C138A4D}"/>
              </a:ext>
            </a:extLst>
          </p:cNvPr>
          <p:cNvSpPr>
            <a:spLocks xmlns:a="http://schemas.openxmlformats.org/drawingml/2006/main" noGrp="1"/>
          </p:cNvSpPr>
          <p:nvPr/>
        </p:nvSpPr>
        <p:spPr>
          <a:xfrm xmlns:a="http://schemas.openxmlformats.org/drawingml/2006/main">
            <a:off x="514350" y="3209925"/>
            <a:ext cx="58578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292929"/>
                </a:solidFill>
                <a:latin typeface="Segoe UI"/>
                <a:ea typeface="Segoe UI"/>
                <a:cs typeface="Segoe UI"/>
              </a:defRPr>
            </a:pPr>
            <a:r>
              <a:rPr sz="2100" b="0">
                <a:solidFill>
                  <a:srgbClr val="292929"/>
                </a:solidFill>
                <a:latin typeface="Segoe UI"/>
                <a:ea typeface="Segoe UI"/>
                <a:cs typeface="Segoe UI"/>
              </a:rPr>
              <a:t>“Duro lime render base coat is completely free of cement.” [1]</a:t>
            </a:r>
          </a:p>
        </p:txBody>
      </p:sp>
      <p:sp>
        <p:nvSpPr>
          <p:cNvPr id="9" name="source">
            <a:extLst xmlns:a="http://schemas.openxmlformats.org/drawingml/2006/main">
              <a:ext uri="{FF2B5EF4-FFF2-40B4-BE49-F238E27FC236}">
                <a16:creationId xmlns:a16="http://schemas.microsoft.com/office/drawing/2014/main" id="{024641CE-B570-4C5C-9A20-D0C1035F5748}"/>
              </a:ext>
            </a:extLst>
          </p:cNvPr>
          <p:cNvSpPr>
            <a:spLocks xmlns:a="http://schemas.openxmlformats.org/drawingml/2006/main" noGrp="1"/>
          </p:cNvSpPr>
          <p:nvPr/>
        </p:nvSpPr>
        <p:spPr>
          <a:xfrm xmlns:a="http://schemas.openxmlformats.org/drawingml/2006/main">
            <a:off x="514350" y="4067175"/>
            <a:ext cx="5810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545C54"/>
                </a:solidFill>
                <a:latin typeface="Segoe UI"/>
                <a:ea typeface="Segoe UI"/>
                <a:cs typeface="Segoe UI"/>
              </a:defRPr>
            </a:pPr>
            <a:r>
              <a:rPr sz="1650" b="0">
                <a:solidFill>
                  <a:srgbClr val="545C54"/>
                </a:solidFill>
                <a:latin typeface="Segoe UI"/>
                <a:ea typeface="Segoe UI"/>
                <a:cs typeface="Segoe UI"/>
              </a:rPr>
              <a:t>[1] Duro Lime Render Base Coat</a:t>
            </a:r>
          </a:p>
          <a:p xmlns:a="http://schemas.openxmlformats.org/drawingml/2006/main">
            <a:pPr>
              <a:defRPr sz="1650" b="0">
                <a:solidFill>
                  <a:srgbClr val="545C54"/>
                </a:solidFill>
                <a:latin typeface="Segoe UI"/>
                <a:ea typeface="Segoe UI"/>
                <a:cs typeface="Segoe UI"/>
              </a:defRPr>
            </a:pPr>
            <a:r>
              <a:rPr sz="1650" b="0">
                <a:solidFill>
                  <a:srgbClr val="545C54"/>
                </a:solidFill>
                <a:latin typeface="Segoe UI"/>
                <a:ea typeface="Segoe UI"/>
                <a:cs typeface="Segoe UI"/>
              </a:rPr>
              <a:t>The app shows the page, exact quote and capture date.</a:t>
            </a:r>
          </a:p>
        </p:txBody>
      </p:sp>
      <p:sp>
        <p:nvSpPr>
          <p:cNvPr id="10" name="source link">
            <a:extLst xmlns:a="http://schemas.openxmlformats.org/drawingml/2006/main">
              <a:ext uri="{FF2B5EF4-FFF2-40B4-BE49-F238E27FC236}">
                <a16:creationId xmlns:a16="http://schemas.microsoft.com/office/drawing/2014/main" id="{65A8DE0E-E959-41CE-AEE6-2632D8109860}"/>
              </a:ext>
            </a:extLst>
          </p:cNvPr>
          <p:cNvSpPr>
            <a:spLocks xmlns:a="http://schemas.openxmlformats.org/drawingml/2006/main" noGrp="1"/>
          </p:cNvSpPr>
          <p:nvPr/>
        </p:nvSpPr>
        <p:spPr>
          <a:xfrm xmlns:a="http://schemas.openxmlformats.org/drawingml/2006/main">
            <a:off x="514350" y="5067300"/>
            <a:ext cx="571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39741B"/>
                </a:solidFill>
                <a:latin typeface="Segoe UI"/>
                <a:ea typeface="Segoe UI"/>
                <a:cs typeface="Segoe UI"/>
              </a:defRPr>
            </a:pPr>
            <a:r>
              <a:rPr sz="1650" b="0">
                <a:solidFill>
                  <a:srgbClr val="39741B"/>
                </a:solidFill>
                <a:latin typeface="Segoe UI"/>
                <a:ea typeface="Segoe UI"/>
                <a:cs typeface="Segoe UI"/>
                <a:hlinkClick xmlns:r="http://schemas.openxmlformats.org/officeDocument/2006/relationships" r:id="R3c9ff824c03d42e6"/>
              </a:rPr>
              <a:t>Open the Duro source page</a:t>
            </a:r>
          </a:p>
        </p:txBody>
      </p:sp>
      <p:sp>
        <p:nvSpPr>
          <p:cNvPr id="11" name="why heading">
            <a:extLst xmlns:a="http://schemas.openxmlformats.org/drawingml/2006/main">
              <a:ext uri="{FF2B5EF4-FFF2-40B4-BE49-F238E27FC236}">
                <a16:creationId xmlns:a16="http://schemas.microsoft.com/office/drawing/2014/main" id="{F2087DA1-D0A4-4F89-B6D0-CFF5484B3EE6}"/>
              </a:ext>
            </a:extLst>
          </p:cNvPr>
          <p:cNvSpPr>
            <a:spLocks xmlns:a="http://schemas.openxmlformats.org/drawingml/2006/main" noGrp="1"/>
          </p:cNvSpPr>
          <p:nvPr/>
        </p:nvSpPr>
        <p:spPr>
          <a:xfrm xmlns:a="http://schemas.openxmlformats.org/drawingml/2006/main">
            <a:off x="7105650" y="2038350"/>
            <a:ext cx="457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39741B"/>
                </a:solidFill>
                <a:latin typeface="Segoe UI"/>
                <a:ea typeface="Segoe UI"/>
                <a:cs typeface="Segoe UI"/>
              </a:defRPr>
            </a:pPr>
            <a:r>
              <a:rPr sz="1350" b="1">
                <a:solidFill>
                  <a:srgbClr val="39741B"/>
                </a:solidFill>
                <a:latin typeface="Segoe UI"/>
                <a:ea typeface="Segoe UI"/>
                <a:cs typeface="Segoe UI"/>
              </a:rPr>
              <a:t>WHY THIS APPROACH</a:t>
            </a:r>
          </a:p>
        </p:txBody>
      </p:sp>
      <p:sp>
        <p:nvSpPr>
          <p:cNvPr id="12" name="local heading">
            <a:extLst xmlns:a="http://schemas.openxmlformats.org/drawingml/2006/main">
              <a:ext uri="{FF2B5EF4-FFF2-40B4-BE49-F238E27FC236}">
                <a16:creationId xmlns:a16="http://schemas.microsoft.com/office/drawing/2014/main" id="{5398877B-0C87-44D8-9A8D-05D2E046BCEA}"/>
              </a:ext>
            </a:extLst>
          </p:cNvPr>
          <p:cNvSpPr>
            <a:spLocks xmlns:a="http://schemas.openxmlformats.org/drawingml/2006/main" noGrp="1"/>
          </p:cNvSpPr>
          <p:nvPr/>
        </p:nvSpPr>
        <p:spPr>
          <a:xfrm xmlns:a="http://schemas.openxmlformats.org/drawingml/2006/main">
            <a:off x="7105650" y="2400300"/>
            <a:ext cx="4524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292929"/>
                </a:solidFill>
                <a:latin typeface="Segoe UI"/>
                <a:ea typeface="Segoe UI"/>
                <a:cs typeface="Segoe UI"/>
              </a:defRPr>
            </a:pPr>
            <a:r>
              <a:rPr sz="2100" b="1">
                <a:solidFill>
                  <a:srgbClr val="292929"/>
                </a:solidFill>
                <a:latin typeface="Segoe UI"/>
                <a:ea typeface="Segoe UI"/>
                <a:cs typeface="Segoe UI"/>
              </a:rPr>
              <a:t>Local inference</a:t>
            </a:r>
          </a:p>
        </p:txBody>
      </p:sp>
      <p:sp>
        <p:nvSpPr>
          <p:cNvPr id="13" name="local body">
            <a:extLst xmlns:a="http://schemas.openxmlformats.org/drawingml/2006/main">
              <a:ext uri="{FF2B5EF4-FFF2-40B4-BE49-F238E27FC236}">
                <a16:creationId xmlns:a16="http://schemas.microsoft.com/office/drawing/2014/main" id="{65A0F8A2-2982-499A-8CCF-6112FF99FDF8}"/>
              </a:ext>
            </a:extLst>
          </p:cNvPr>
          <p:cNvSpPr>
            <a:spLocks xmlns:a="http://schemas.openxmlformats.org/drawingml/2006/main" noGrp="1"/>
          </p:cNvSpPr>
          <p:nvPr/>
        </p:nvSpPr>
        <p:spPr>
          <a:xfrm xmlns:a="http://schemas.openxmlformats.org/drawingml/2006/main">
            <a:off x="7105650" y="2828925"/>
            <a:ext cx="4524375"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292929"/>
                </a:solidFill>
                <a:latin typeface="Segoe UI"/>
                <a:ea typeface="Segoe UI"/>
                <a:cs typeface="Segoe UI"/>
              </a:defRPr>
            </a:pPr>
            <a:r>
              <a:rPr sz="1800" b="0">
                <a:solidFill>
                  <a:srgbClr val="292929"/>
                </a:solidFill>
                <a:latin typeface="Segoe UI"/>
                <a:ea typeface="Segoe UI"/>
                <a:cs typeface="Segoe UI"/>
              </a:rPr>
              <a:t>llama.cpp runs the models on one laptop. Questions stay local.</a:t>
            </a:r>
          </a:p>
        </p:txBody>
      </p:sp>
      <p:sp>
        <p:nvSpPr>
          <p:cNvPr id="14" name="simple heading">
            <a:extLst xmlns:a="http://schemas.openxmlformats.org/drawingml/2006/main">
              <a:ext uri="{FF2B5EF4-FFF2-40B4-BE49-F238E27FC236}">
                <a16:creationId xmlns:a16="http://schemas.microsoft.com/office/drawing/2014/main" id="{E1B5DEE7-4B4B-43DE-9666-D0DFDE153786}"/>
              </a:ext>
            </a:extLst>
          </p:cNvPr>
          <p:cNvSpPr>
            <a:spLocks xmlns:a="http://schemas.openxmlformats.org/drawingml/2006/main" noGrp="1"/>
          </p:cNvSpPr>
          <p:nvPr/>
        </p:nvSpPr>
        <p:spPr>
          <a:xfrm xmlns:a="http://schemas.openxmlformats.org/drawingml/2006/main">
            <a:off x="7105650" y="3762375"/>
            <a:ext cx="4524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292929"/>
                </a:solidFill>
                <a:latin typeface="Segoe UI"/>
                <a:ea typeface="Segoe UI"/>
                <a:cs typeface="Segoe UI"/>
              </a:defRPr>
            </a:pPr>
            <a:r>
              <a:rPr sz="2100" b="1">
                <a:solidFill>
                  <a:srgbClr val="292929"/>
                </a:solidFill>
                <a:latin typeface="Segoe UI"/>
                <a:ea typeface="Segoe UI"/>
                <a:cs typeface="Segoe UI"/>
              </a:rPr>
              <a:t>A small, inspectable system</a:t>
            </a:r>
          </a:p>
        </p:txBody>
      </p:sp>
      <p:sp>
        <p:nvSpPr>
          <p:cNvPr id="15" name="simple body">
            <a:extLst xmlns:a="http://schemas.openxmlformats.org/drawingml/2006/main">
              <a:ext uri="{FF2B5EF4-FFF2-40B4-BE49-F238E27FC236}">
                <a16:creationId xmlns:a16="http://schemas.microsoft.com/office/drawing/2014/main" id="{7D273815-ABB9-4E74-8D63-38743197A87B}"/>
              </a:ext>
            </a:extLst>
          </p:cNvPr>
          <p:cNvSpPr>
            <a:spLocks xmlns:a="http://schemas.openxmlformats.org/drawingml/2006/main" noGrp="1"/>
          </p:cNvSpPr>
          <p:nvPr/>
        </p:nvSpPr>
        <p:spPr>
          <a:xfrm xmlns:a="http://schemas.openxmlformats.org/drawingml/2006/main">
            <a:off x="7105650" y="4191000"/>
            <a:ext cx="4524375"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292929"/>
                </a:solidFill>
                <a:latin typeface="Segoe UI"/>
                <a:ea typeface="Segoe UI"/>
                <a:cs typeface="Segoe UI"/>
              </a:defRPr>
            </a:pPr>
            <a:r>
              <a:rPr sz="1800" b="0">
                <a:solidFill>
                  <a:srgbClr val="292929"/>
                </a:solidFill>
                <a:latin typeface="Segoe UI"/>
                <a:ea typeface="Segoe UI"/>
                <a:cs typeface="Segoe UI"/>
              </a:rPr>
              <a:t>68 HTML pages, 315 passages and one SQLite file. CLI and web share one path.</a:t>
            </a:r>
          </a:p>
        </p:txBody>
      </p:sp>
      <p:sp>
        <p:nvSpPr>
          <p:cNvPr id="16" name="refusal">
            <a:extLst xmlns:a="http://schemas.openxmlformats.org/drawingml/2006/main">
              <a:ext uri="{FF2B5EF4-FFF2-40B4-BE49-F238E27FC236}">
                <a16:creationId xmlns:a16="http://schemas.microsoft.com/office/drawing/2014/main" id="{282F8D54-F138-4FAE-B560-624A8A6FFCC5}"/>
              </a:ext>
            </a:extLst>
          </p:cNvPr>
          <p:cNvSpPr>
            <a:spLocks xmlns:a="http://schemas.openxmlformats.org/drawingml/2006/main" noGrp="1"/>
          </p:cNvSpPr>
          <p:nvPr/>
        </p:nvSpPr>
        <p:spPr>
          <a:xfrm xmlns:a="http://schemas.openxmlformats.org/drawingml/2006/main">
            <a:off x="514350" y="5715000"/>
            <a:ext cx="111633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39741B"/>
                </a:solidFill>
                <a:latin typeface="Segoe UI"/>
                <a:ea typeface="Segoe UI"/>
                <a:cs typeface="Segoe UI"/>
              </a:defRPr>
            </a:pPr>
            <a:r>
              <a:rPr sz="1950" b="1">
                <a:solidFill>
                  <a:srgbClr val="39741B"/>
                </a:solidFill>
                <a:latin typeface="Segoe UI"/>
                <a:ea typeface="Segoe UI"/>
                <a:cs typeface="Segoe UI"/>
              </a:rPr>
              <a:t>Price and delivery question: fixed refusal with the closest pages</a:t>
            </a:r>
          </a:p>
        </p:txBody>
      </p:sp>
    </p:spTree>
    <p:extLst>
      <p:ext uri="{BB962C8B-B14F-4D97-AF65-F5344CB8AC3E}">
        <p14:creationId xmlns:p14="http://schemas.microsoft.com/office/powerpoint/2010/main" val="381507461"/>
      </p:ext>
    </p:extLst>
  </p:cSld>
</p:sld>
</file>

<file path=ppt/slides/slide2.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16" name="section">
            <a:extLst xmlns:a="http://schemas.openxmlformats.org/drawingml/2006/main">
              <a:ext uri="{FF2B5EF4-FFF2-40B4-BE49-F238E27FC236}">
                <a16:creationId xmlns:a16="http://schemas.microsoft.com/office/drawing/2014/main" id="{AEEB2354-8F69-437F-853B-3654DC6E162D}"/>
              </a:ext>
            </a:extLst>
          </p:cNvPr>
          <p:cNvSpPr>
            <a:spLocks xmlns:a="http://schemas.openxmlformats.org/drawingml/2006/main" noGrp="1"/>
          </p:cNvSpPr>
          <p:nvPr/>
        </p:nvSpPr>
        <p:spPr>
          <a:xfrm xmlns:a="http://schemas.openxmlformats.org/drawingml/2006/main">
            <a:off x="514350" y="333375"/>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39741B"/>
                </a:solidFill>
                <a:latin typeface="Segoe UI"/>
                <a:ea typeface="Segoe UI"/>
                <a:cs typeface="Segoe UI"/>
              </a:defRPr>
            </a:pPr>
            <a:r>
              <a:rPr sz="1275" b="1">
                <a:solidFill>
                  <a:srgbClr val="39741B"/>
                </a:solidFill>
                <a:latin typeface="Segoe UI"/>
                <a:ea typeface="Segoe UI"/>
                <a:cs typeface="Segoe UI"/>
              </a:rPr>
              <a:t>TECHNICAL IMPLEMENTATION</a:t>
            </a:r>
          </a:p>
        </p:txBody>
      </p:sp>
      <p:sp>
        <p:nvSpPr>
          <p:cNvPr id="2" name="footer">
            <a:extLst xmlns:a="http://schemas.openxmlformats.org/drawingml/2006/main">
              <a:ext uri="{FF2B5EF4-FFF2-40B4-BE49-F238E27FC236}">
                <a16:creationId xmlns:a16="http://schemas.microsoft.com/office/drawing/2014/main" id="{DD50C270-D8AF-4ACF-9F68-23292F58F23D}"/>
              </a:ext>
            </a:extLst>
          </p:cNvPr>
          <p:cNvSpPr>
            <a:spLocks xmlns:a="http://schemas.openxmlformats.org/drawingml/2006/main" noGrp="1"/>
          </p:cNvSpPr>
          <p:nvPr/>
        </p:nvSpPr>
        <p:spPr>
          <a:xfrm xmlns:a="http://schemas.openxmlformats.org/drawingml/2006/main">
            <a:off x="514350" y="6486525"/>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45C54"/>
                </a:solidFill>
                <a:latin typeface="Segoe UI"/>
                <a:ea typeface="Segoe UI"/>
                <a:cs typeface="Segoe UI"/>
              </a:defRPr>
            </a:pPr>
            <a:r>
              <a:rPr sz="1125" b="0">
                <a:solidFill>
                  <a:srgbClr val="545C54"/>
                </a:solidFill>
                <a:latin typeface="Segoe UI"/>
                <a:ea typeface="Segoe UI"/>
                <a:cs typeface="Segoe UI"/>
              </a:rPr>
              <a:t>Nduka Nwagbo</a:t>
            </a:r>
          </a:p>
        </p:txBody>
      </p:sp>
      <p:sp>
        <p:nvSpPr>
          <p:cNvPr id="3" name="page">
            <a:extLst xmlns:a="http://schemas.openxmlformats.org/drawingml/2006/main">
              <a:ext uri="{FF2B5EF4-FFF2-40B4-BE49-F238E27FC236}">
                <a16:creationId xmlns:a16="http://schemas.microsoft.com/office/drawing/2014/main" id="{B163D594-25CB-4FCC-957A-4F4532CD191E}"/>
              </a:ext>
            </a:extLst>
          </p:cNvPr>
          <p:cNvSpPr>
            <a:spLocks xmlns:a="http://schemas.openxmlformats.org/drawingml/2006/main" noGrp="1"/>
          </p:cNvSpPr>
          <p:nvPr/>
        </p:nvSpPr>
        <p:spPr>
          <a:xfrm xmlns:a="http://schemas.openxmlformats.org/drawingml/2006/main">
            <a:off x="11049000" y="6486525"/>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45C54"/>
                </a:solidFill>
                <a:latin typeface="Segoe UI"/>
                <a:ea typeface="Segoe UI"/>
                <a:cs typeface="Segoe UI"/>
              </a:defRPr>
            </a:pPr>
            <a:r>
              <a:rPr sz="1125" b="0">
                <a:solidFill>
                  <a:srgbClr val="545C54"/>
                </a:solidFill>
                <a:latin typeface="Segoe UI"/>
                <a:ea typeface="Segoe UI"/>
                <a:cs typeface="Segoe UI"/>
              </a:rPr>
              <a:t>2 / 3</a:t>
            </a:r>
          </a:p>
        </p:txBody>
      </p:sp>
      <p:sp>
        <p:nvSpPr>
          <p:cNvPr id="4" name="title">
            <a:extLst xmlns:a="http://schemas.openxmlformats.org/drawingml/2006/main">
              <a:ext uri="{FF2B5EF4-FFF2-40B4-BE49-F238E27FC236}">
                <a16:creationId xmlns:a16="http://schemas.microsoft.com/office/drawing/2014/main" id="{C4EA356F-F0DB-4EA6-AE69-3E4373167320}"/>
              </a:ext>
            </a:extLst>
          </p:cNvPr>
          <p:cNvSpPr>
            <a:spLocks xmlns:a="http://schemas.openxmlformats.org/drawingml/2006/main" noGrp="1"/>
          </p:cNvSpPr>
          <p:nvPr/>
        </p:nvSpPr>
        <p:spPr>
          <a:xfrm xmlns:a="http://schemas.openxmlformats.org/drawingml/2006/main">
            <a:off x="514350" y="704850"/>
            <a:ext cx="111633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292929"/>
                </a:solidFill>
                <a:latin typeface="Segoe UI"/>
                <a:ea typeface="Segoe UI"/>
                <a:cs typeface="Segoe UI"/>
              </a:defRPr>
            </a:pPr>
            <a:r>
              <a:rPr sz="3000" b="1">
                <a:solidFill>
                  <a:srgbClr val="292929"/>
                </a:solidFill>
                <a:latin typeface="Segoe UI"/>
                <a:ea typeface="Segoe UI"/>
                <a:cs typeface="Segoe UI"/>
              </a:rPr>
              <a:t>The path from a question to its sources</a:t>
            </a:r>
          </a:p>
        </p:txBody>
      </p:sp>
      <p:sp>
        <p:nvSpPr>
          <p:cNvPr id="5" name="index">
            <a:extLst xmlns:a="http://schemas.openxmlformats.org/drawingml/2006/main">
              <a:ext uri="{FF2B5EF4-FFF2-40B4-BE49-F238E27FC236}">
                <a16:creationId xmlns:a16="http://schemas.microsoft.com/office/drawing/2014/main" id="{EEF7269E-32CC-4814-8A8B-11B8F5AC7E75}"/>
              </a:ext>
            </a:extLst>
          </p:cNvPr>
          <p:cNvSpPr>
            <a:spLocks xmlns:a="http://schemas.openxmlformats.org/drawingml/2006/main" noGrp="1"/>
          </p:cNvSpPr>
          <p:nvPr/>
        </p:nvSpPr>
        <p:spPr>
          <a:xfrm xmlns:a="http://schemas.openxmlformats.org/drawingml/2006/main">
            <a:off x="514350" y="1419225"/>
            <a:ext cx="111633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45C54"/>
                </a:solidFill>
                <a:latin typeface="Segoe UI"/>
                <a:ea typeface="Segoe UI"/>
                <a:cs typeface="Segoe UI"/>
              </a:defRPr>
            </a:pPr>
            <a:r>
              <a:rPr sz="1800" b="0">
                <a:solidFill>
                  <a:srgbClr val="545C54"/>
                </a:solidFill>
                <a:latin typeface="Segoe UI"/>
                <a:ea typeface="Segoe UI"/>
                <a:cs typeface="Segoe UI"/>
              </a:rPr>
              <a:t>Built once: HTML sections and FAQ pairs, with keyword and vector indexes</a:t>
            </a:r>
          </a:p>
        </p:txBody>
      </p:sp>
      <p:sp>
        <p:nvSpPr>
          <p:cNvPr id="6" name="step 1">
            <a:extLst xmlns:a="http://schemas.openxmlformats.org/drawingml/2006/main">
              <a:ext uri="{FF2B5EF4-FFF2-40B4-BE49-F238E27FC236}">
                <a16:creationId xmlns:a16="http://schemas.microsoft.com/office/drawing/2014/main" id="{54361DCA-4011-4D94-A717-2A9327AB3B8F}"/>
              </a:ext>
            </a:extLst>
          </p:cNvPr>
          <p:cNvSpPr>
            <a:spLocks xmlns:a="http://schemas.openxmlformats.org/drawingml/2006/main" noGrp="1"/>
          </p:cNvSpPr>
          <p:nvPr/>
        </p:nvSpPr>
        <p:spPr>
          <a:xfrm xmlns:a="http://schemas.openxmlformats.org/drawingml/2006/main">
            <a:off x="514350" y="2114550"/>
            <a:ext cx="3000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39741B"/>
                </a:solidFill>
                <a:latin typeface="Segoe UI"/>
                <a:ea typeface="Segoe UI"/>
                <a:cs typeface="Segoe UI"/>
              </a:defRPr>
            </a:pPr>
            <a:r>
              <a:rPr sz="2100" b="1">
                <a:solidFill>
                  <a:srgbClr val="39741B"/>
                </a:solidFill>
                <a:latin typeface="Segoe UI"/>
                <a:ea typeface="Segoe UI"/>
                <a:cs typeface="Segoe UI"/>
              </a:rPr>
              <a:t>1  Retrieve</a:t>
            </a:r>
          </a:p>
        </p:txBody>
      </p:sp>
      <p:sp>
        <p:nvSpPr>
          <p:cNvPr id="7" name="detail 1">
            <a:extLst xmlns:a="http://schemas.openxmlformats.org/drawingml/2006/main">
              <a:ext uri="{FF2B5EF4-FFF2-40B4-BE49-F238E27FC236}">
                <a16:creationId xmlns:a16="http://schemas.microsoft.com/office/drawing/2014/main" id="{2A89B90A-2D54-4973-A159-9DA7A6151B3D}"/>
              </a:ext>
            </a:extLst>
          </p:cNvPr>
          <p:cNvSpPr>
            <a:spLocks xmlns:a="http://schemas.openxmlformats.org/drawingml/2006/main" noGrp="1"/>
          </p:cNvSpPr>
          <p:nvPr/>
        </p:nvSpPr>
        <p:spPr>
          <a:xfrm xmlns:a="http://schemas.openxmlformats.org/drawingml/2006/main">
            <a:off x="3581400" y="2114550"/>
            <a:ext cx="7858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292929"/>
                </a:solidFill>
                <a:latin typeface="Segoe UI"/>
                <a:ea typeface="Segoe UI"/>
                <a:cs typeface="Segoe UI"/>
              </a:defRPr>
            </a:pPr>
            <a:r>
              <a:rPr sz="1950" b="0">
                <a:solidFill>
                  <a:srgbClr val="292929"/>
                </a:solidFill>
                <a:latin typeface="Segoe UI"/>
                <a:ea typeface="Segoe UI"/>
                <a:cs typeface="Segoe UI"/>
              </a:rPr>
              <a:t>Keyword search and Qwen3 embeddings find candidate passages.</a:t>
            </a:r>
          </a:p>
        </p:txBody>
      </p:sp>
      <p:sp>
        <p:nvSpPr>
          <p:cNvPr id="8" name="step 2">
            <a:extLst xmlns:a="http://schemas.openxmlformats.org/drawingml/2006/main">
              <a:ext uri="{FF2B5EF4-FFF2-40B4-BE49-F238E27FC236}">
                <a16:creationId xmlns:a16="http://schemas.microsoft.com/office/drawing/2014/main" id="{0244384F-0CBD-472C-BAD7-5F4C94A6D87C}"/>
              </a:ext>
            </a:extLst>
          </p:cNvPr>
          <p:cNvSpPr>
            <a:spLocks xmlns:a="http://schemas.openxmlformats.org/drawingml/2006/main" noGrp="1"/>
          </p:cNvSpPr>
          <p:nvPr/>
        </p:nvSpPr>
        <p:spPr>
          <a:xfrm xmlns:a="http://schemas.openxmlformats.org/drawingml/2006/main">
            <a:off x="514350" y="3028950"/>
            <a:ext cx="3000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39741B"/>
                </a:solidFill>
                <a:latin typeface="Segoe UI"/>
                <a:ea typeface="Segoe UI"/>
                <a:cs typeface="Segoe UI"/>
              </a:defRPr>
            </a:pPr>
            <a:r>
              <a:rPr sz="2100" b="1">
                <a:solidFill>
                  <a:srgbClr val="39741B"/>
                </a:solidFill>
                <a:latin typeface="Segoe UI"/>
                <a:ea typeface="Segoe UI"/>
                <a:cs typeface="Segoe UI"/>
              </a:rPr>
              <a:t>2  Rerank</a:t>
            </a:r>
          </a:p>
        </p:txBody>
      </p:sp>
      <p:sp>
        <p:nvSpPr>
          <p:cNvPr id="9" name="detail 2">
            <a:extLst xmlns:a="http://schemas.openxmlformats.org/drawingml/2006/main">
              <a:ext uri="{FF2B5EF4-FFF2-40B4-BE49-F238E27FC236}">
                <a16:creationId xmlns:a16="http://schemas.microsoft.com/office/drawing/2014/main" id="{21B5DF53-9D97-47D1-94FB-D95858C7D130}"/>
              </a:ext>
            </a:extLst>
          </p:cNvPr>
          <p:cNvSpPr>
            <a:spLocks xmlns:a="http://schemas.openxmlformats.org/drawingml/2006/main" noGrp="1"/>
          </p:cNvSpPr>
          <p:nvPr/>
        </p:nvSpPr>
        <p:spPr>
          <a:xfrm xmlns:a="http://schemas.openxmlformats.org/drawingml/2006/main">
            <a:off x="3581400" y="3028950"/>
            <a:ext cx="7858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292929"/>
                </a:solidFill>
                <a:latin typeface="Segoe UI"/>
                <a:ea typeface="Segoe UI"/>
                <a:cs typeface="Segoe UI"/>
              </a:defRPr>
            </a:pPr>
            <a:r>
              <a:rPr sz="1950" b="0">
                <a:solidFill>
                  <a:srgbClr val="292929"/>
                </a:solidFill>
                <a:latin typeface="Segoe UI"/>
                <a:ea typeface="Segoe UI"/>
                <a:cs typeface="Segoe UI"/>
              </a:rPr>
              <a:t>Reciprocal-rank fusion combines the lists. BGE reorders the best 20 and keeps 8.</a:t>
            </a:r>
          </a:p>
        </p:txBody>
      </p:sp>
      <p:sp>
        <p:nvSpPr>
          <p:cNvPr id="10" name="step 3">
            <a:extLst xmlns:a="http://schemas.openxmlformats.org/drawingml/2006/main">
              <a:ext uri="{FF2B5EF4-FFF2-40B4-BE49-F238E27FC236}">
                <a16:creationId xmlns:a16="http://schemas.microsoft.com/office/drawing/2014/main" id="{811AC451-CD69-4778-8A91-98D2ADE9C679}"/>
              </a:ext>
            </a:extLst>
          </p:cNvPr>
          <p:cNvSpPr>
            <a:spLocks xmlns:a="http://schemas.openxmlformats.org/drawingml/2006/main" noGrp="1"/>
          </p:cNvSpPr>
          <p:nvPr/>
        </p:nvSpPr>
        <p:spPr>
          <a:xfrm xmlns:a="http://schemas.openxmlformats.org/drawingml/2006/main">
            <a:off x="514350" y="3943350"/>
            <a:ext cx="3000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39741B"/>
                </a:solidFill>
                <a:latin typeface="Segoe UI"/>
                <a:ea typeface="Segoe UI"/>
                <a:cs typeface="Segoe UI"/>
              </a:defRPr>
            </a:pPr>
            <a:r>
              <a:rPr sz="2100" b="1">
                <a:solidFill>
                  <a:srgbClr val="39741B"/>
                </a:solidFill>
                <a:latin typeface="Segoe UI"/>
                <a:ea typeface="Segoe UI"/>
                <a:cs typeface="Segoe UI"/>
              </a:rPr>
              <a:t>3  Generate</a:t>
            </a:r>
          </a:p>
        </p:txBody>
      </p:sp>
      <p:sp>
        <p:nvSpPr>
          <p:cNvPr id="11" name="detail 3">
            <a:extLst xmlns:a="http://schemas.openxmlformats.org/drawingml/2006/main">
              <a:ext uri="{FF2B5EF4-FFF2-40B4-BE49-F238E27FC236}">
                <a16:creationId xmlns:a16="http://schemas.microsoft.com/office/drawing/2014/main" id="{8C23AAEB-597F-4B1C-B484-0A054880C287}"/>
              </a:ext>
            </a:extLst>
          </p:cNvPr>
          <p:cNvSpPr>
            <a:spLocks xmlns:a="http://schemas.openxmlformats.org/drawingml/2006/main" noGrp="1"/>
          </p:cNvSpPr>
          <p:nvPr/>
        </p:nvSpPr>
        <p:spPr>
          <a:xfrm xmlns:a="http://schemas.openxmlformats.org/drawingml/2006/main">
            <a:off x="3581400" y="3943350"/>
            <a:ext cx="7858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292929"/>
                </a:solidFill>
                <a:latin typeface="Segoe UI"/>
                <a:ea typeface="Segoe UI"/>
                <a:cs typeface="Segoe UI"/>
              </a:defRPr>
            </a:pPr>
            <a:r>
              <a:rPr sz="1950" b="0">
                <a:solidFill>
                  <a:srgbClr val="292929"/>
                </a:solidFill>
                <a:latin typeface="Segoe UI"/>
                <a:ea typeface="Segoe UI"/>
                <a:cs typeface="Segoe UI"/>
              </a:rPr>
              <a:t>Qwen3.6-35B-A3B returns JSON with quotations before each claim.</a:t>
            </a:r>
          </a:p>
        </p:txBody>
      </p:sp>
      <p:sp>
        <p:nvSpPr>
          <p:cNvPr id="12" name="step 4">
            <a:extLst xmlns:a="http://schemas.openxmlformats.org/drawingml/2006/main">
              <a:ext uri="{FF2B5EF4-FFF2-40B4-BE49-F238E27FC236}">
                <a16:creationId xmlns:a16="http://schemas.microsoft.com/office/drawing/2014/main" id="{E5071010-6C4C-44F5-8F2E-5E40C8C23EB4}"/>
              </a:ext>
            </a:extLst>
          </p:cNvPr>
          <p:cNvSpPr>
            <a:spLocks xmlns:a="http://schemas.openxmlformats.org/drawingml/2006/main" noGrp="1"/>
          </p:cNvSpPr>
          <p:nvPr/>
        </p:nvSpPr>
        <p:spPr>
          <a:xfrm xmlns:a="http://schemas.openxmlformats.org/drawingml/2006/main">
            <a:off x="514350" y="4857750"/>
            <a:ext cx="3000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39741B"/>
                </a:solidFill>
                <a:latin typeface="Segoe UI"/>
                <a:ea typeface="Segoe UI"/>
                <a:cs typeface="Segoe UI"/>
              </a:defRPr>
            </a:pPr>
            <a:r>
              <a:rPr sz="2100" b="1">
                <a:solidFill>
                  <a:srgbClr val="39741B"/>
                </a:solidFill>
                <a:latin typeface="Segoe UI"/>
                <a:ea typeface="Segoe UI"/>
                <a:cs typeface="Segoe UI"/>
              </a:rPr>
              <a:t>4  Check and show</a:t>
            </a:r>
          </a:p>
        </p:txBody>
      </p:sp>
      <p:sp>
        <p:nvSpPr>
          <p:cNvPr id="13" name="detail 4">
            <a:extLst xmlns:a="http://schemas.openxmlformats.org/drawingml/2006/main">
              <a:ext uri="{FF2B5EF4-FFF2-40B4-BE49-F238E27FC236}">
                <a16:creationId xmlns:a16="http://schemas.microsoft.com/office/drawing/2014/main" id="{C3F4AF03-3445-4F3F-B679-48B1AD4D4690}"/>
              </a:ext>
            </a:extLst>
          </p:cNvPr>
          <p:cNvSpPr>
            <a:spLocks xmlns:a="http://schemas.openxmlformats.org/drawingml/2006/main" noGrp="1"/>
          </p:cNvSpPr>
          <p:nvPr/>
        </p:nvSpPr>
        <p:spPr>
          <a:xfrm xmlns:a="http://schemas.openxmlformats.org/drawingml/2006/main">
            <a:off x="3581400" y="4857750"/>
            <a:ext cx="7858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292929"/>
                </a:solidFill>
                <a:latin typeface="Segoe UI"/>
                <a:ea typeface="Segoe UI"/>
                <a:cs typeface="Segoe UI"/>
              </a:defRPr>
            </a:pPr>
            <a:r>
              <a:rPr sz="1950" b="0">
                <a:solidFill>
                  <a:srgbClr val="292929"/>
                </a:solidFill>
                <a:latin typeface="Segoe UI"/>
                <a:ea typeface="Segoe UI"/>
                <a:cs typeface="Segoe UI"/>
              </a:rPr>
              <a:t>Code checks source IDs, quotations, numbers and named regulations.</a:t>
            </a:r>
          </a:p>
        </p:txBody>
      </p:sp>
      <p:sp>
        <p:nvSpPr>
          <p:cNvPr id="14" name="fallback">
            <a:extLst xmlns:a="http://schemas.openxmlformats.org/drawingml/2006/main">
              <a:ext uri="{FF2B5EF4-FFF2-40B4-BE49-F238E27FC236}">
                <a16:creationId xmlns:a16="http://schemas.microsoft.com/office/drawing/2014/main" id="{82B874B2-F2FC-4FF5-B971-BD0B0EA7573F}"/>
              </a:ext>
            </a:extLst>
          </p:cNvPr>
          <p:cNvSpPr>
            <a:spLocks xmlns:a="http://schemas.openxmlformats.org/drawingml/2006/main" noGrp="1"/>
          </p:cNvSpPr>
          <p:nvPr/>
        </p:nvSpPr>
        <p:spPr>
          <a:xfrm xmlns:a="http://schemas.openxmlformats.org/drawingml/2006/main">
            <a:off x="514350" y="5810250"/>
            <a:ext cx="111633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292929"/>
                </a:solidFill>
                <a:latin typeface="Segoe UI"/>
                <a:ea typeface="Segoe UI"/>
                <a:cs typeface="Segoe UI"/>
              </a:defRPr>
            </a:pPr>
            <a:r>
              <a:rPr sz="1800" b="1">
                <a:solidFill>
                  <a:srgbClr val="292929"/>
                </a:solidFill>
                <a:latin typeface="Segoe UI"/>
                <a:ea typeface="Segoe UI"/>
                <a:cs typeface="Segoe UI"/>
              </a:rPr>
              <a:t>Failed claims are removed. None left: fixed refusal. Partial: caution.*</a:t>
            </a:r>
          </a:p>
        </p:txBody>
      </p:sp>
      <p:sp>
        <p:nvSpPr>
          <p:cNvPr id="15" name="caveat">
            <a:extLst xmlns:a="http://schemas.openxmlformats.org/drawingml/2006/main">
              <a:ext uri="{FF2B5EF4-FFF2-40B4-BE49-F238E27FC236}">
                <a16:creationId xmlns:a16="http://schemas.microsoft.com/office/drawing/2014/main" id="{F875139A-5DEC-4E07-8955-2DB7BD623DA8}"/>
              </a:ext>
            </a:extLst>
          </p:cNvPr>
          <p:cNvSpPr>
            <a:spLocks xmlns:a="http://schemas.openxmlformats.org/drawingml/2006/main" noGrp="1"/>
          </p:cNvSpPr>
          <p:nvPr/>
        </p:nvSpPr>
        <p:spPr>
          <a:xfrm xmlns:a="http://schemas.openxmlformats.org/drawingml/2006/main">
            <a:off x="514350" y="6191250"/>
            <a:ext cx="111633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45C54"/>
                </a:solidFill>
                <a:latin typeface="Segoe UI"/>
                <a:ea typeface="Segoe UI"/>
                <a:cs typeface="Segoe UI"/>
              </a:defRPr>
            </a:pPr>
            <a:r>
              <a:rPr sz="1275" b="0">
                <a:solidFill>
                  <a:srgbClr val="545C54"/>
                </a:solidFill>
                <a:latin typeface="Segoe UI"/>
                <a:ea typeface="Segoe UI"/>
                <a:cs typeface="Segoe UI"/>
              </a:rPr>
              <a:t>*Completeness depends partly on the model. A separate first request routes exposures to fixed referral text.</a:t>
            </a:r>
          </a:p>
        </p:txBody>
      </p:sp>
    </p:spTree>
    <p:extLst>
      <p:ext uri="{BB962C8B-B14F-4D97-AF65-F5344CB8AC3E}">
        <p14:creationId xmlns:p14="http://schemas.microsoft.com/office/powerpoint/2010/main" val="3603063604"/>
      </p:ext>
    </p:extLst>
  </p:cSld>
</p:sld>
</file>

<file path=ppt/slides/slide3.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17" name="section">
            <a:extLst xmlns:a="http://schemas.openxmlformats.org/drawingml/2006/main">
              <a:ext uri="{FF2B5EF4-FFF2-40B4-BE49-F238E27FC236}">
                <a16:creationId xmlns:a16="http://schemas.microsoft.com/office/drawing/2014/main" id="{6C9C1EFE-BC93-4729-B23A-A824D5ABEC98}"/>
              </a:ext>
            </a:extLst>
          </p:cNvPr>
          <p:cNvSpPr>
            <a:spLocks xmlns:a="http://schemas.openxmlformats.org/drawingml/2006/main" noGrp="1"/>
          </p:cNvSpPr>
          <p:nvPr/>
        </p:nvSpPr>
        <p:spPr>
          <a:xfrm xmlns:a="http://schemas.openxmlformats.org/drawingml/2006/main">
            <a:off x="514350" y="333375"/>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1">
                <a:solidFill>
                  <a:srgbClr val="39741B"/>
                </a:solidFill>
                <a:latin typeface="Segoe UI"/>
                <a:ea typeface="Segoe UI"/>
                <a:cs typeface="Segoe UI"/>
              </a:defRPr>
            </a:pPr>
            <a:r>
              <a:rPr sz="1275" b="1">
                <a:solidFill>
                  <a:srgbClr val="39741B"/>
                </a:solidFill>
                <a:latin typeface="Segoe UI"/>
                <a:ea typeface="Segoe UI"/>
                <a:cs typeface="Segoe UI"/>
              </a:rPr>
              <a:t>RESULTS AND REFLECTION</a:t>
            </a:r>
          </a:p>
        </p:txBody>
      </p:sp>
      <p:sp>
        <p:nvSpPr>
          <p:cNvPr id="2" name="footer">
            <a:extLst xmlns:a="http://schemas.openxmlformats.org/drawingml/2006/main">
              <a:ext uri="{FF2B5EF4-FFF2-40B4-BE49-F238E27FC236}">
                <a16:creationId xmlns:a16="http://schemas.microsoft.com/office/drawing/2014/main" id="{DAC28ED8-F666-4CAA-9114-AFF8F4CB3630}"/>
              </a:ext>
            </a:extLst>
          </p:cNvPr>
          <p:cNvSpPr>
            <a:spLocks xmlns:a="http://schemas.openxmlformats.org/drawingml/2006/main" noGrp="1"/>
          </p:cNvSpPr>
          <p:nvPr/>
        </p:nvSpPr>
        <p:spPr>
          <a:xfrm xmlns:a="http://schemas.openxmlformats.org/drawingml/2006/main">
            <a:off x="514350" y="6486525"/>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45C54"/>
                </a:solidFill>
                <a:latin typeface="Segoe UI"/>
                <a:ea typeface="Segoe UI"/>
                <a:cs typeface="Segoe UI"/>
              </a:defRPr>
            </a:pPr>
            <a:r>
              <a:rPr sz="1125" b="0">
                <a:solidFill>
                  <a:srgbClr val="545C54"/>
                </a:solidFill>
                <a:latin typeface="Segoe UI"/>
                <a:ea typeface="Segoe UI"/>
                <a:cs typeface="Segoe UI"/>
              </a:rPr>
              <a:t>Nduka Nwagbo</a:t>
            </a:r>
          </a:p>
        </p:txBody>
      </p:sp>
      <p:sp>
        <p:nvSpPr>
          <p:cNvPr id="3" name="page">
            <a:extLst xmlns:a="http://schemas.openxmlformats.org/drawingml/2006/main">
              <a:ext uri="{FF2B5EF4-FFF2-40B4-BE49-F238E27FC236}">
                <a16:creationId xmlns:a16="http://schemas.microsoft.com/office/drawing/2014/main" id="{141A1BB0-B793-4CBC-A20D-965168B52DD1}"/>
              </a:ext>
            </a:extLst>
          </p:cNvPr>
          <p:cNvSpPr>
            <a:spLocks xmlns:a="http://schemas.openxmlformats.org/drawingml/2006/main" noGrp="1"/>
          </p:cNvSpPr>
          <p:nvPr/>
        </p:nvSpPr>
        <p:spPr>
          <a:xfrm xmlns:a="http://schemas.openxmlformats.org/drawingml/2006/main">
            <a:off x="11049000" y="6486525"/>
            <a:ext cx="628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45C54"/>
                </a:solidFill>
                <a:latin typeface="Segoe UI"/>
                <a:ea typeface="Segoe UI"/>
                <a:cs typeface="Segoe UI"/>
              </a:defRPr>
            </a:pPr>
            <a:r>
              <a:rPr sz="1125" b="0">
                <a:solidFill>
                  <a:srgbClr val="545C54"/>
                </a:solidFill>
                <a:latin typeface="Segoe UI"/>
                <a:ea typeface="Segoe UI"/>
                <a:cs typeface="Segoe UI"/>
              </a:rPr>
              <a:t>3 / 3</a:t>
            </a:r>
          </a:p>
        </p:txBody>
      </p:sp>
      <p:sp>
        <p:nvSpPr>
          <p:cNvPr id="4" name="title">
            <a:extLst xmlns:a="http://schemas.openxmlformats.org/drawingml/2006/main">
              <a:ext uri="{FF2B5EF4-FFF2-40B4-BE49-F238E27FC236}">
                <a16:creationId xmlns:a16="http://schemas.microsoft.com/office/drawing/2014/main" id="{29BFF9E1-1D11-4DD4-B8D4-9EAA1CA8C8B6}"/>
              </a:ext>
            </a:extLst>
          </p:cNvPr>
          <p:cNvSpPr>
            <a:spLocks xmlns:a="http://schemas.openxmlformats.org/drawingml/2006/main" noGrp="1"/>
          </p:cNvSpPr>
          <p:nvPr/>
        </p:nvSpPr>
        <p:spPr>
          <a:xfrm xmlns:a="http://schemas.openxmlformats.org/drawingml/2006/main">
            <a:off x="514350" y="704850"/>
            <a:ext cx="111633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292929"/>
                </a:solidFill>
                <a:latin typeface="Segoe UI"/>
                <a:ea typeface="Segoe UI"/>
                <a:cs typeface="Segoe UI"/>
              </a:defRPr>
            </a:pPr>
            <a:r>
              <a:rPr sz="3000" b="1">
                <a:solidFill>
                  <a:srgbClr val="292929"/>
                </a:solidFill>
                <a:latin typeface="Segoe UI"/>
                <a:ea typeface="Segoe UI"/>
                <a:cs typeface="Segoe UI"/>
              </a:rPr>
              <a:t>Qwen ships, with clear limits</a:t>
            </a:r>
          </a:p>
        </p:txBody>
      </p:sp>
      <p:sp>
        <p:nvSpPr>
          <p:cNvPr id="5" name="frozen title">
            <a:extLst xmlns:a="http://schemas.openxmlformats.org/drawingml/2006/main">
              <a:ext uri="{FF2B5EF4-FFF2-40B4-BE49-F238E27FC236}">
                <a16:creationId xmlns:a16="http://schemas.microsoft.com/office/drawing/2014/main" id="{63B6FA33-78FF-4C4E-8309-D52398BFB684}"/>
              </a:ext>
            </a:extLst>
          </p:cNvPr>
          <p:cNvSpPr>
            <a:spLocks xmlns:a="http://schemas.openxmlformats.org/drawingml/2006/main" noGrp="1"/>
          </p:cNvSpPr>
          <p:nvPr/>
        </p:nvSpPr>
        <p:spPr>
          <a:xfrm xmlns:a="http://schemas.openxmlformats.org/drawingml/2006/main">
            <a:off x="514350" y="1495425"/>
            <a:ext cx="647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292929"/>
                </a:solidFill>
                <a:latin typeface="Segoe UI"/>
                <a:ea typeface="Segoe UI"/>
                <a:cs typeface="Segoe UI"/>
              </a:defRPr>
            </a:pPr>
            <a:r>
              <a:rPr sz="2100" b="1">
                <a:solidFill>
                  <a:srgbClr val="292929"/>
                </a:solidFill>
                <a:latin typeface="Segoe UI"/>
                <a:ea typeface="Segoe UI"/>
                <a:cs typeface="Segoe UI"/>
              </a:rPr>
              <a:t>90 frozen questions</a:t>
            </a:r>
          </a:p>
        </p:txBody>
      </p:sp>
      <p:sp>
        <p:nvSpPr>
          <p:cNvPr id="6" name="frozen method">
            <a:extLst xmlns:a="http://schemas.openxmlformats.org/drawingml/2006/main">
              <a:ext uri="{FF2B5EF4-FFF2-40B4-BE49-F238E27FC236}">
                <a16:creationId xmlns:a16="http://schemas.microsoft.com/office/drawing/2014/main" id="{0B9EFB51-FA23-43BB-84AF-B8F94A92F60C}"/>
              </a:ext>
            </a:extLst>
          </p:cNvPr>
          <p:cNvSpPr>
            <a:spLocks xmlns:a="http://schemas.openxmlformats.org/drawingml/2006/main" noGrp="1"/>
          </p:cNvSpPr>
          <p:nvPr/>
        </p:nvSpPr>
        <p:spPr>
          <a:xfrm xmlns:a="http://schemas.openxmlformats.org/drawingml/2006/main">
            <a:off x="514350" y="1924050"/>
            <a:ext cx="64293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545C54"/>
                </a:solidFill>
                <a:latin typeface="Segoe UI"/>
                <a:ea typeface="Segoe UI"/>
                <a:cs typeface="Segoe UI"/>
              </a:defRPr>
            </a:pPr>
            <a:r>
              <a:rPr sz="1650" b="0">
                <a:solidFill>
                  <a:srgbClr val="545C54"/>
                </a:solidFill>
                <a:latin typeface="Segoe UI"/>
                <a:ea typeface="Segoe UI"/>
                <a:cs typeface="Segoe UI"/>
              </a:rPr>
              <a:t>18 cases, each asked five ways. Same retrieved passages.</a:t>
            </a:r>
          </a:p>
        </p:txBody>
      </p:sp>
      <p:graphicFrame>
        <p:nvGraphicFramePr>
          <p:cNvPr id="23" name=""/>
          <p:cNvGraphicFramePr/>
          <p:nvPr/>
        </p:nvGraphicFramePr>
        <p:xfrm>
          <a:off xmlns:a="http://schemas.openxmlformats.org/drawingml/2006/main" x="514350" y="2571750"/>
          <a:ext xmlns:a="http://schemas.openxmlformats.org/drawingml/2006/main" cx="6477000" cy="2133600"/>
        </p:xfrm>
        <a:graphic xmlns:a="http://schemas.openxmlformats.org/drawingml/2006/main">
          <a:graphicData uri="http://schemas.openxmlformats.org/drawingml/2006/table">
            <a:tbl>
              <a:tblPr firstRow="0" bandRow="0"/>
              <a:tblGrid>
                <a:gridCol w="3133725"/>
                <a:gridCol w="1114425"/>
                <a:gridCol w="1114425"/>
                <a:gridCol w="1114425"/>
              </a:tblGrid>
              <a:tr h="533400">
                <a:tc>
                  <a:txBody>
                    <a:bodyPr lIns="95250" tIns="95250" rIns="95250" bIns="95250">
                      <a:noAutofit/>
                    </a:bodyPr>
                    <a:lstStyle/>
                    <a:p>
                      <a:pPr algn="l"/>
                      <a:r>
                        <a:rPr sz="1650" b="1">
                          <a:solidFill>
                            <a:srgbClr val="292929"/>
                          </a:solidFill>
                          <a:latin typeface="Segoe UI"/>
                          <a:ea typeface="Segoe UI"/>
                          <a:cs typeface="Segoe UI"/>
                        </a:rPr>
                        <a:t>Generator</a:t>
                      </a:r>
                    </a:p>
                  </a:txBody>
                  <a:tcPr marL="91440" marR="91440" marT="45720" marB="45720" anchor="ctr">
                    <a:solidFill>
                      <a:srgbClr val="E7EDE3"/>
                    </a:solidFill>
                  </a:tcPr>
                </a:tc>
                <a:tc>
                  <a:txBody>
                    <a:bodyPr lIns="95250" tIns="95250" rIns="95250" bIns="95250">
                      <a:noAutofit/>
                    </a:bodyPr>
                    <a:lstStyle/>
                    <a:p>
                      <a:pPr algn="ctr"/>
                      <a:r>
                        <a:rPr sz="1800" b="1">
                          <a:solidFill>
                            <a:srgbClr val="292929"/>
                          </a:solidFill>
                          <a:latin typeface="Segoe UI"/>
                          <a:ea typeface="Segoe UI"/>
                          <a:cs typeface="Segoe UI"/>
                        </a:rPr>
                        <a:t>Sound</a:t>
                      </a:r>
                    </a:p>
                  </a:txBody>
                  <a:tcPr marL="91440" marR="91440" marT="45720" marB="45720" anchor="ctr">
                    <a:solidFill>
                      <a:srgbClr val="E7EDE3"/>
                    </a:solidFill>
                  </a:tcPr>
                </a:tc>
                <a:tc>
                  <a:txBody>
                    <a:bodyPr lIns="95250" tIns="95250" rIns="95250" bIns="95250">
                      <a:noAutofit/>
                    </a:bodyPr>
                    <a:lstStyle/>
                    <a:p>
                      <a:pPr algn="ctr"/>
                      <a:r>
                        <a:rPr sz="1800" b="1">
                          <a:solidFill>
                            <a:srgbClr val="292929"/>
                          </a:solidFill>
                          <a:latin typeface="Segoe UI"/>
                          <a:ea typeface="Segoe UI"/>
                          <a:cs typeface="Segoe UI"/>
                        </a:rPr>
                        <a:t>Partial</a:t>
                      </a:r>
                    </a:p>
                  </a:txBody>
                  <a:tcPr marL="91440" marR="91440" marT="45720" marB="45720" anchor="ctr">
                    <a:solidFill>
                      <a:srgbClr val="E7EDE3"/>
                    </a:solidFill>
                  </a:tcPr>
                </a:tc>
                <a:tc>
                  <a:txBody>
                    <a:bodyPr lIns="95250" tIns="95250" rIns="95250" bIns="95250">
                      <a:noAutofit/>
                    </a:bodyPr>
                    <a:lstStyle/>
                    <a:p>
                      <a:pPr algn="ctr"/>
                      <a:r>
                        <a:rPr sz="1800" b="1">
                          <a:solidFill>
                            <a:srgbClr val="292929"/>
                          </a:solidFill>
                          <a:latin typeface="Segoe UI"/>
                          <a:ea typeface="Segoe UI"/>
                          <a:cs typeface="Segoe UI"/>
                        </a:rPr>
                        <a:t>Wrong</a:t>
                      </a:r>
                    </a:p>
                  </a:txBody>
                  <a:tcPr marL="91440" marR="91440" marT="45720" marB="45720" anchor="ctr">
                    <a:solidFill>
                      <a:srgbClr val="E7EDE3"/>
                    </a:solidFill>
                  </a:tcPr>
                </a:tc>
              </a:tr>
              <a:tr h="533400">
                <a:tc>
                  <a:txBody>
                    <a:bodyPr lIns="95250" tIns="95250" rIns="95250" bIns="95250">
                      <a:noAutofit/>
                    </a:bodyPr>
                    <a:lstStyle/>
                    <a:p>
                      <a:pPr algn="l"/>
                      <a:r>
                        <a:rPr sz="1650" b="1">
                          <a:solidFill>
                            <a:srgbClr val="39741B"/>
                          </a:solidFill>
                          <a:latin typeface="Segoe UI"/>
                          <a:ea typeface="Segoe UI"/>
                          <a:cs typeface="Segoe UI"/>
                        </a:rPr>
                        <a:t>Qwen3.6-35B-A3B</a:t>
                      </a:r>
                    </a:p>
                  </a:txBody>
                  <a:tcPr marL="91440" marR="91440" marT="45720" marB="45720" anchor="ctr">
                    <a:solidFill>
                      <a:srgbClr val="FAFAF7"/>
                    </a:solidFill>
                  </a:tcPr>
                </a:tc>
                <a:tc>
                  <a:txBody>
                    <a:bodyPr lIns="95250" tIns="95250" rIns="95250" bIns="95250">
                      <a:noAutofit/>
                    </a:bodyPr>
                    <a:lstStyle/>
                    <a:p>
                      <a:pPr algn="ctr"/>
                      <a:r>
                        <a:rPr sz="1800" b="1">
                          <a:solidFill>
                            <a:srgbClr val="39741B"/>
                          </a:solidFill>
                          <a:latin typeface="Segoe UI"/>
                          <a:ea typeface="Segoe UI"/>
                          <a:cs typeface="Segoe UI"/>
                        </a:rPr>
                        <a:t>77</a:t>
                      </a:r>
                    </a:p>
                  </a:txBody>
                  <a:tcPr marL="91440" marR="91440" marT="45720" marB="45720" anchor="ctr">
                    <a:solidFill>
                      <a:srgbClr val="FAFAF7"/>
                    </a:solidFill>
                  </a:tcPr>
                </a:tc>
                <a:tc>
                  <a:txBody>
                    <a:bodyPr lIns="95250" tIns="95250" rIns="95250" bIns="95250">
                      <a:noAutofit/>
                    </a:bodyPr>
                    <a:lstStyle/>
                    <a:p>
                      <a:pPr algn="ctr"/>
                      <a:r>
                        <a:rPr sz="1800" b="1">
                          <a:solidFill>
                            <a:srgbClr val="39741B"/>
                          </a:solidFill>
                          <a:latin typeface="Segoe UI"/>
                          <a:ea typeface="Segoe UI"/>
                          <a:cs typeface="Segoe UI"/>
                        </a:rPr>
                        <a:t>8</a:t>
                      </a:r>
                    </a:p>
                  </a:txBody>
                  <a:tcPr marL="91440" marR="91440" marT="45720" marB="45720" anchor="ctr">
                    <a:solidFill>
                      <a:srgbClr val="FAFAF7"/>
                    </a:solidFill>
                  </a:tcPr>
                </a:tc>
                <a:tc>
                  <a:txBody>
                    <a:bodyPr lIns="95250" tIns="95250" rIns="95250" bIns="95250">
                      <a:noAutofit/>
                    </a:bodyPr>
                    <a:lstStyle/>
                    <a:p>
                      <a:pPr algn="ctr"/>
                      <a:r>
                        <a:rPr sz="1800" b="1">
                          <a:solidFill>
                            <a:srgbClr val="39741B"/>
                          </a:solidFill>
                          <a:latin typeface="Segoe UI"/>
                          <a:ea typeface="Segoe UI"/>
                          <a:cs typeface="Segoe UI"/>
                        </a:rPr>
                        <a:t>5</a:t>
                      </a:r>
                    </a:p>
                  </a:txBody>
                  <a:tcPr marL="91440" marR="91440" marT="45720" marB="45720" anchor="ctr">
                    <a:solidFill>
                      <a:srgbClr val="FAFAF7"/>
                    </a:solidFill>
                  </a:tcPr>
                </a:tc>
              </a:tr>
              <a:tr h="533400">
                <a:tc>
                  <a:txBody>
                    <a:bodyPr lIns="95250" tIns="95250" rIns="95250" bIns="95250">
                      <a:noAutofit/>
                    </a:bodyPr>
                    <a:lstStyle/>
                    <a:p>
                      <a:pPr algn="l"/>
                      <a:r>
                        <a:rPr sz="1650" b="0">
                          <a:solidFill>
                            <a:srgbClr val="292929"/>
                          </a:solidFill>
                          <a:latin typeface="Segoe UI"/>
                          <a:ea typeface="Segoe UI"/>
                          <a:cs typeface="Segoe UI"/>
                        </a:rPr>
                        <a:t>Gemma 4 26B-A4B</a:t>
                      </a:r>
                    </a:p>
                  </a:txBody>
                  <a:tcPr marL="91440" marR="91440" marT="45720" marB="45720" anchor="ctr">
                    <a:solidFill>
                      <a:srgbClr val="FAFAF7"/>
                    </a:solidFill>
                  </a:tcPr>
                </a:tc>
                <a:tc>
                  <a:txBody>
                    <a:bodyPr lIns="95250" tIns="95250" rIns="95250" bIns="95250">
                      <a:noAutofit/>
                    </a:bodyPr>
                    <a:lstStyle/>
                    <a:p>
                      <a:pPr algn="ctr"/>
                      <a:r>
                        <a:rPr sz="1800" b="0">
                          <a:solidFill>
                            <a:srgbClr val="292929"/>
                          </a:solidFill>
                          <a:latin typeface="Segoe UI"/>
                          <a:ea typeface="Segoe UI"/>
                          <a:cs typeface="Segoe UI"/>
                        </a:rPr>
                        <a:t>74</a:t>
                      </a:r>
                    </a:p>
                  </a:txBody>
                  <a:tcPr marL="91440" marR="91440" marT="45720" marB="45720" anchor="ctr">
                    <a:solidFill>
                      <a:srgbClr val="FAFAF7"/>
                    </a:solidFill>
                  </a:tcPr>
                </a:tc>
                <a:tc>
                  <a:txBody>
                    <a:bodyPr lIns="95250" tIns="95250" rIns="95250" bIns="95250">
                      <a:noAutofit/>
                    </a:bodyPr>
                    <a:lstStyle/>
                    <a:p>
                      <a:pPr algn="ctr"/>
                      <a:r>
                        <a:rPr sz="1800" b="0">
                          <a:solidFill>
                            <a:srgbClr val="292929"/>
                          </a:solidFill>
                          <a:latin typeface="Segoe UI"/>
                          <a:ea typeface="Segoe UI"/>
                          <a:cs typeface="Segoe UI"/>
                        </a:rPr>
                        <a:t>10</a:t>
                      </a:r>
                    </a:p>
                  </a:txBody>
                  <a:tcPr marL="91440" marR="91440" marT="45720" marB="45720" anchor="ctr">
                    <a:solidFill>
                      <a:srgbClr val="FAFAF7"/>
                    </a:solidFill>
                  </a:tcPr>
                </a:tc>
                <a:tc>
                  <a:txBody>
                    <a:bodyPr lIns="95250" tIns="95250" rIns="95250" bIns="95250">
                      <a:noAutofit/>
                    </a:bodyPr>
                    <a:lstStyle/>
                    <a:p>
                      <a:pPr algn="ctr"/>
                      <a:r>
                        <a:rPr sz="1800" b="0">
                          <a:solidFill>
                            <a:srgbClr val="292929"/>
                          </a:solidFill>
                          <a:latin typeface="Segoe UI"/>
                          <a:ea typeface="Segoe UI"/>
                          <a:cs typeface="Segoe UI"/>
                        </a:rPr>
                        <a:t>6</a:t>
                      </a:r>
                    </a:p>
                  </a:txBody>
                  <a:tcPr marL="91440" marR="91440" marT="45720" marB="45720" anchor="ctr">
                    <a:solidFill>
                      <a:srgbClr val="FAFAF7"/>
                    </a:solidFill>
                  </a:tcPr>
                </a:tc>
              </a:tr>
              <a:tr h="533400">
                <a:tc>
                  <a:txBody>
                    <a:bodyPr lIns="95250" tIns="95250" rIns="95250" bIns="95250">
                      <a:noAutofit/>
                    </a:bodyPr>
                    <a:lstStyle/>
                    <a:p>
                      <a:pPr algn="l"/>
                      <a:r>
                        <a:rPr sz="1650" b="0">
                          <a:solidFill>
                            <a:srgbClr val="292929"/>
                          </a:solidFill>
                          <a:latin typeface="Segoe UI"/>
                          <a:ea typeface="Segoe UI"/>
                          <a:cs typeface="Segoe UI"/>
                        </a:rPr>
                        <a:t>Nemotron 3 Nano 4B</a:t>
                      </a:r>
                    </a:p>
                  </a:txBody>
                  <a:tcPr marL="91440" marR="91440" marT="45720" marB="45720" anchor="ctr">
                    <a:solidFill>
                      <a:srgbClr val="FAFAF7"/>
                    </a:solidFill>
                  </a:tcPr>
                </a:tc>
                <a:tc>
                  <a:txBody>
                    <a:bodyPr lIns="95250" tIns="95250" rIns="95250" bIns="95250">
                      <a:noAutofit/>
                    </a:bodyPr>
                    <a:lstStyle/>
                    <a:p>
                      <a:pPr algn="ctr"/>
                      <a:r>
                        <a:rPr sz="1800" b="0">
                          <a:solidFill>
                            <a:srgbClr val="292929"/>
                          </a:solidFill>
                          <a:latin typeface="Segoe UI"/>
                          <a:ea typeface="Segoe UI"/>
                          <a:cs typeface="Segoe UI"/>
                        </a:rPr>
                        <a:t>36</a:t>
                      </a:r>
                    </a:p>
                  </a:txBody>
                  <a:tcPr marL="91440" marR="91440" marT="45720" marB="45720" anchor="ctr">
                    <a:solidFill>
                      <a:srgbClr val="FAFAF7"/>
                    </a:solidFill>
                  </a:tcPr>
                </a:tc>
                <a:tc>
                  <a:txBody>
                    <a:bodyPr lIns="95250" tIns="95250" rIns="95250" bIns="95250">
                      <a:noAutofit/>
                    </a:bodyPr>
                    <a:lstStyle/>
                    <a:p>
                      <a:pPr algn="ctr"/>
                      <a:r>
                        <a:rPr sz="1800" b="0">
                          <a:solidFill>
                            <a:srgbClr val="292929"/>
                          </a:solidFill>
                          <a:latin typeface="Segoe UI"/>
                          <a:ea typeface="Segoe UI"/>
                          <a:cs typeface="Segoe UI"/>
                        </a:rPr>
                        <a:t>23</a:t>
                      </a:r>
                    </a:p>
                  </a:txBody>
                  <a:tcPr marL="91440" marR="91440" marT="45720" marB="45720" anchor="ctr">
                    <a:solidFill>
                      <a:srgbClr val="FAFAF7"/>
                    </a:solidFill>
                  </a:tcPr>
                </a:tc>
                <a:tc>
                  <a:txBody>
                    <a:bodyPr lIns="95250" tIns="95250" rIns="95250" bIns="95250">
                      <a:noAutofit/>
                    </a:bodyPr>
                    <a:lstStyle/>
                    <a:p>
                      <a:pPr algn="ctr"/>
                      <a:r>
                        <a:rPr sz="1800" b="0">
                          <a:solidFill>
                            <a:srgbClr val="292929"/>
                          </a:solidFill>
                          <a:latin typeface="Segoe UI"/>
                          <a:ea typeface="Segoe UI"/>
                          <a:cs typeface="Segoe UI"/>
                        </a:rPr>
                        <a:t>31</a:t>
                      </a:r>
                    </a:p>
                  </a:txBody>
                  <a:tcPr marL="91440" marR="91440" marT="45720" marB="45720" anchor="ctr">
                    <a:solidFill>
                      <a:srgbClr val="FAFAF7"/>
                    </a:solidFill>
                  </a:tcPr>
                </a:tc>
              </a:tr>
            </a:tbl>
          </a:graphicData>
        </a:graphic>
      </p:graphicFrame>
      <p:sp>
        <p:nvSpPr>
          <p:cNvPr id="8" name="heldout">
            <a:extLst xmlns:a="http://schemas.openxmlformats.org/drawingml/2006/main">
              <a:ext uri="{FF2B5EF4-FFF2-40B4-BE49-F238E27FC236}">
                <a16:creationId xmlns:a16="http://schemas.microsoft.com/office/drawing/2014/main" id="{993301E6-68D3-423A-A869-889A61966BBC}"/>
              </a:ext>
            </a:extLst>
          </p:cNvPr>
          <p:cNvSpPr>
            <a:spLocks xmlns:a="http://schemas.openxmlformats.org/drawingml/2006/main" noGrp="1"/>
          </p:cNvSpPr>
          <p:nvPr/>
        </p:nvSpPr>
        <p:spPr>
          <a:xfrm xmlns:a="http://schemas.openxmlformats.org/drawingml/2006/main">
            <a:off x="514350" y="5038725"/>
            <a:ext cx="647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39741B"/>
                </a:solidFill>
                <a:latin typeface="Segoe UI"/>
                <a:ea typeface="Segoe UI"/>
                <a:cs typeface="Segoe UI"/>
              </a:defRPr>
            </a:pPr>
            <a:r>
              <a:rPr sz="2100" b="1">
                <a:solidFill>
                  <a:srgbClr val="39741B"/>
                </a:solidFill>
                <a:latin typeface="Segoe UI"/>
                <a:ea typeface="Segoe UI"/>
                <a:cs typeface="Segoe UI"/>
              </a:rPr>
              <a:t>60 new questions: Qwen and Gemma tied</a:t>
            </a:r>
          </a:p>
        </p:txBody>
      </p:sp>
      <p:sp>
        <p:nvSpPr>
          <p:cNvPr id="9" name="selection">
            <a:extLst xmlns:a="http://schemas.openxmlformats.org/drawingml/2006/main">
              <a:ext uri="{FF2B5EF4-FFF2-40B4-BE49-F238E27FC236}">
                <a16:creationId xmlns:a16="http://schemas.microsoft.com/office/drawing/2014/main" id="{C0A81F6C-089F-40AE-9FF4-B6FE9F5388E9}"/>
              </a:ext>
            </a:extLst>
          </p:cNvPr>
          <p:cNvSpPr>
            <a:spLocks xmlns:a="http://schemas.openxmlformats.org/drawingml/2006/main" noGrp="1"/>
          </p:cNvSpPr>
          <p:nvPr/>
        </p:nvSpPr>
        <p:spPr>
          <a:xfrm xmlns:a="http://schemas.openxmlformats.org/drawingml/2006/main">
            <a:off x="514350" y="5791200"/>
            <a:ext cx="657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545C54"/>
                </a:solidFill>
                <a:latin typeface="Segoe UI"/>
                <a:ea typeface="Segoe UI"/>
                <a:cs typeface="Segoe UI"/>
              </a:defRPr>
            </a:pPr>
            <a:r>
              <a:rPr sz="1650" b="0">
                <a:solidFill>
                  <a:srgbClr val="545C54"/>
                </a:solidFill>
                <a:latin typeface="Segoe UI"/>
                <a:ea typeface="Segoe UI"/>
                <a:cs typeface="Segoe UI"/>
              </a:rPr>
              <a:t>I kept Qwen after the result.</a:t>
            </a:r>
          </a:p>
          <a:p xmlns:a="http://schemas.openxmlformats.org/drawingml/2006/main">
            <a:pPr>
              <a:defRPr sz="1650" b="0">
                <a:solidFill>
                  <a:srgbClr val="545C54"/>
                </a:solidFill>
                <a:latin typeface="Segoe UI"/>
                <a:ea typeface="Segoe UI"/>
                <a:cs typeface="Segoe UI"/>
              </a:defRPr>
            </a:pPr>
            <a:r>
              <a:rPr sz="1650" b="0">
                <a:solidFill>
                  <a:srgbClr val="545C54"/>
                </a:solidFill>
                <a:latin typeface="Segoe UI"/>
                <a:ea typeface="Segoe UI"/>
                <a:cs typeface="Segoe UI"/>
              </a:rPr>
              <a:t>Median answer through the live page: 12.7 s.</a:t>
            </a:r>
          </a:p>
        </p:txBody>
      </p:sp>
      <p:sp>
        <p:nvSpPr>
          <p:cNvPr id="10" name="worked heading">
            <a:extLst xmlns:a="http://schemas.openxmlformats.org/drawingml/2006/main">
              <a:ext uri="{FF2B5EF4-FFF2-40B4-BE49-F238E27FC236}">
                <a16:creationId xmlns:a16="http://schemas.microsoft.com/office/drawing/2014/main" id="{1155F713-09F7-493A-81C8-CE148AB058CA}"/>
              </a:ext>
            </a:extLst>
          </p:cNvPr>
          <p:cNvSpPr>
            <a:spLocks xmlns:a="http://schemas.openxmlformats.org/drawingml/2006/main" noGrp="1"/>
          </p:cNvSpPr>
          <p:nvPr/>
        </p:nvSpPr>
        <p:spPr>
          <a:xfrm xmlns:a="http://schemas.openxmlformats.org/drawingml/2006/main">
            <a:off x="7505700" y="1543050"/>
            <a:ext cx="41719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39741B"/>
                </a:solidFill>
                <a:latin typeface="Segoe UI"/>
                <a:ea typeface="Segoe UI"/>
                <a:cs typeface="Segoe UI"/>
              </a:defRPr>
            </a:pPr>
            <a:r>
              <a:rPr sz="2025" b="1">
                <a:solidFill>
                  <a:srgbClr val="39741B"/>
                </a:solidFill>
                <a:latin typeface="Segoe UI"/>
                <a:ea typeface="Segoe UI"/>
                <a:cs typeface="Segoe UI"/>
              </a:rPr>
              <a:t>Worked</a:t>
            </a:r>
          </a:p>
        </p:txBody>
      </p:sp>
      <p:sp>
        <p:nvSpPr>
          <p:cNvPr id="11" name="worked">
            <a:extLst xmlns:a="http://schemas.openxmlformats.org/drawingml/2006/main">
              <a:ext uri="{FF2B5EF4-FFF2-40B4-BE49-F238E27FC236}">
                <a16:creationId xmlns:a16="http://schemas.microsoft.com/office/drawing/2014/main" id="{AB115146-786E-4E32-920C-18F7D5C5CFDA}"/>
              </a:ext>
            </a:extLst>
          </p:cNvPr>
          <p:cNvSpPr>
            <a:spLocks xmlns:a="http://schemas.openxmlformats.org/drawingml/2006/main" noGrp="1"/>
          </p:cNvSpPr>
          <p:nvPr/>
        </p:nvSpPr>
        <p:spPr>
          <a:xfrm xmlns:a="http://schemas.openxmlformats.org/drawingml/2006/main">
            <a:off x="7505700" y="1952625"/>
            <a:ext cx="41719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292929"/>
                </a:solidFill>
                <a:latin typeface="Segoe UI"/>
                <a:ea typeface="Segoe UI"/>
                <a:cs typeface="Segoe UI"/>
              </a:defRPr>
            </a:pPr>
            <a:r>
              <a:rPr sz="1800" b="0">
                <a:solidFill>
                  <a:srgbClr val="292929"/>
                </a:solidFill>
                <a:latin typeface="Segoe UI"/>
                <a:ea typeface="Segoe UI"/>
                <a:cs typeface="Segoe UI"/>
              </a:rPr>
              <a:t>Cited product answers. Fixed referrals and price refusals in both evaluations.</a:t>
            </a:r>
          </a:p>
        </p:txBody>
      </p:sp>
      <p:sp>
        <p:nvSpPr>
          <p:cNvPr id="12" name="missed heading">
            <a:extLst xmlns:a="http://schemas.openxmlformats.org/drawingml/2006/main">
              <a:ext uri="{FF2B5EF4-FFF2-40B4-BE49-F238E27FC236}">
                <a16:creationId xmlns:a16="http://schemas.microsoft.com/office/drawing/2014/main" id="{078A918D-561D-4B15-A488-BDC721C39129}"/>
              </a:ext>
            </a:extLst>
          </p:cNvPr>
          <p:cNvSpPr>
            <a:spLocks xmlns:a="http://schemas.openxmlformats.org/drawingml/2006/main" noGrp="1"/>
          </p:cNvSpPr>
          <p:nvPr/>
        </p:nvSpPr>
        <p:spPr>
          <a:xfrm xmlns:a="http://schemas.openxmlformats.org/drawingml/2006/main">
            <a:off x="7505700" y="3152775"/>
            <a:ext cx="41719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292929"/>
                </a:solidFill>
                <a:latin typeface="Segoe UI"/>
                <a:ea typeface="Segoe UI"/>
                <a:cs typeface="Segoe UI"/>
              </a:defRPr>
            </a:pPr>
            <a:r>
              <a:rPr sz="2025" b="1">
                <a:solidFill>
                  <a:srgbClr val="292929"/>
                </a:solidFill>
                <a:latin typeface="Segoe UI"/>
                <a:ea typeface="Segoe UI"/>
                <a:cs typeface="Segoe UI"/>
              </a:rPr>
              <a:t>Remaining failures</a:t>
            </a:r>
          </a:p>
        </p:txBody>
      </p:sp>
      <p:sp>
        <p:nvSpPr>
          <p:cNvPr id="13" name="missed">
            <a:extLst xmlns:a="http://schemas.openxmlformats.org/drawingml/2006/main">
              <a:ext uri="{FF2B5EF4-FFF2-40B4-BE49-F238E27FC236}">
                <a16:creationId xmlns:a16="http://schemas.microsoft.com/office/drawing/2014/main" id="{5802140F-02DE-4B84-93EF-82E6FE9B4942}"/>
              </a:ext>
            </a:extLst>
          </p:cNvPr>
          <p:cNvSpPr>
            <a:spLocks xmlns:a="http://schemas.openxmlformats.org/drawingml/2006/main" noGrp="1"/>
          </p:cNvSpPr>
          <p:nvPr/>
        </p:nvSpPr>
        <p:spPr>
          <a:xfrm xmlns:a="http://schemas.openxmlformats.org/drawingml/2006/main">
            <a:off x="7505700" y="3581400"/>
            <a:ext cx="417195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292929"/>
                </a:solidFill>
                <a:latin typeface="Segoe UI"/>
                <a:ea typeface="Segoe UI"/>
                <a:cs typeface="Segoe UI"/>
              </a:defRPr>
            </a:pPr>
            <a:r>
              <a:rPr sz="1800" b="0">
                <a:solidFill>
                  <a:srgbClr val="292929"/>
                </a:solidFill>
                <a:latin typeface="Segoe UI"/>
                <a:ea typeface="Segoe UI"/>
                <a:cs typeface="Segoe UI"/>
              </a:rPr>
              <a:t>The multi-source answer missed Tradirend. Regulation answers can over-reassure.</a:t>
            </a:r>
          </a:p>
        </p:txBody>
      </p:sp>
      <p:sp>
        <p:nvSpPr>
          <p:cNvPr id="14" name="next heading">
            <a:extLst xmlns:a="http://schemas.openxmlformats.org/drawingml/2006/main">
              <a:ext uri="{FF2B5EF4-FFF2-40B4-BE49-F238E27FC236}">
                <a16:creationId xmlns:a16="http://schemas.microsoft.com/office/drawing/2014/main" id="{B7A2ADAD-9461-490A-9DC1-353C8F88261C}"/>
              </a:ext>
            </a:extLst>
          </p:cNvPr>
          <p:cNvSpPr>
            <a:spLocks xmlns:a="http://schemas.openxmlformats.org/drawingml/2006/main" noGrp="1"/>
          </p:cNvSpPr>
          <p:nvPr/>
        </p:nvSpPr>
        <p:spPr>
          <a:xfrm xmlns:a="http://schemas.openxmlformats.org/drawingml/2006/main">
            <a:off x="7505700" y="4848225"/>
            <a:ext cx="41719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292929"/>
                </a:solidFill>
                <a:latin typeface="Segoe UI"/>
                <a:ea typeface="Segoe UI"/>
                <a:cs typeface="Segoe UI"/>
              </a:defRPr>
            </a:pPr>
            <a:r>
              <a:rPr sz="2025" b="1">
                <a:solidFill>
                  <a:srgbClr val="292929"/>
                </a:solidFill>
                <a:latin typeface="Segoe UI"/>
                <a:ea typeface="Segoe UI"/>
                <a:cs typeface="Segoe UI"/>
              </a:rPr>
              <a:t>Next with more time</a:t>
            </a:r>
          </a:p>
        </p:txBody>
      </p:sp>
      <p:sp>
        <p:nvSpPr>
          <p:cNvPr id="15" name="next">
            <a:extLst xmlns:a="http://schemas.openxmlformats.org/drawingml/2006/main">
              <a:ext uri="{FF2B5EF4-FFF2-40B4-BE49-F238E27FC236}">
                <a16:creationId xmlns:a16="http://schemas.microsoft.com/office/drawing/2014/main" id="{5E72F4FE-ACB7-4E5C-B012-96CB1ACB5BFF}"/>
              </a:ext>
            </a:extLst>
          </p:cNvPr>
          <p:cNvSpPr>
            <a:spLocks xmlns:a="http://schemas.openxmlformats.org/drawingml/2006/main" noGrp="1"/>
          </p:cNvSpPr>
          <p:nvPr/>
        </p:nvSpPr>
        <p:spPr>
          <a:xfrm xmlns:a="http://schemas.openxmlformats.org/drawingml/2006/main">
            <a:off x="7505700" y="5276850"/>
            <a:ext cx="4171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292929"/>
                </a:solidFill>
                <a:latin typeface="Segoe UI"/>
                <a:ea typeface="Segoe UI"/>
                <a:cs typeface="Segoe UI"/>
              </a:defRPr>
            </a:pPr>
            <a:r>
              <a:rPr sz="1800" b="0">
                <a:solidFill>
                  <a:srgbClr val="292929"/>
                </a:solidFill>
                <a:latin typeface="Segoe UI"/>
                <a:ea typeface="Segoe UI"/>
                <a:cs typeface="Segoe UI"/>
              </a:rPr>
              <a:t>Have the technical team grade real enquiries. Test better retrieval and PDF data sheets.</a:t>
            </a:r>
          </a:p>
        </p:txBody>
      </p:sp>
      <p:sp>
        <p:nvSpPr>
          <p:cNvPr id="16" name="judge caveat">
            <a:extLst xmlns:a="http://schemas.openxmlformats.org/drawingml/2006/main">
              <a:ext uri="{FF2B5EF4-FFF2-40B4-BE49-F238E27FC236}">
                <a16:creationId xmlns:a16="http://schemas.microsoft.com/office/drawing/2014/main" id="{551D2510-B815-4E5E-AE8C-B1D37743C353}"/>
              </a:ext>
            </a:extLst>
          </p:cNvPr>
          <p:cNvSpPr>
            <a:spLocks xmlns:a="http://schemas.openxmlformats.org/drawingml/2006/main" noGrp="1"/>
          </p:cNvSpPr>
          <p:nvPr/>
        </p:nvSpPr>
        <p:spPr>
          <a:xfrm xmlns:a="http://schemas.openxmlformats.org/drawingml/2006/main">
            <a:off x="3619500" y="6486525"/>
            <a:ext cx="7048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45C54"/>
                </a:solidFill>
                <a:latin typeface="Segoe UI"/>
                <a:ea typeface="Segoe UI"/>
                <a:cs typeface="Segoe UI"/>
              </a:defRPr>
            </a:pPr>
            <a:r>
              <a:rPr sz="1125" b="0">
                <a:solidFill>
                  <a:srgbClr val="545C54"/>
                </a:solidFill>
                <a:latin typeface="Segoe UI"/>
                <a:ea typeface="Segoe UI"/>
                <a:cs typeface="Segoe UI"/>
              </a:rPr>
              <a:t>Judges were LLMs, not domain experts</a:t>
            </a:r>
          </a:p>
        </p:txBody>
      </p:sp>
    </p:spTree>
    <p:extLst>
      <p:ext uri="{BB962C8B-B14F-4D97-AF65-F5344CB8AC3E}">
        <p14:creationId xmlns:p14="http://schemas.microsoft.com/office/powerpoint/2010/main" val="93049337"/>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Nduka Nwagbo</dc:creator>
  <lastModifiedBy>Nduka Nwagbo</lastModifiedBy>
  <dc:title>Lime Green Assistant</dc:title>
  <dcterms:created xsi:type="dcterms:W3CDTF">2026-09-15T14:12:12.1090000Z</dcterms:created>
  <dcterms:modified xsi:type="dcterms:W3CDTF">2026-09-15T14:12:12.1090000Z</dcterms:modified>
</coreProperties>
</file>